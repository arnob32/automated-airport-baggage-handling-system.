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sldIdLst>
    <p:sldId id="256" r:id="rId2"/>
    <p:sldId id="257" r:id="rId3"/>
    <p:sldId id="258" r:id="rId4"/>
    <p:sldId id="259" r:id="rId5"/>
    <p:sldId id="260" r:id="rId6"/>
    <p:sldId id="262" r:id="rId7"/>
    <p:sldId id="261" r:id="rId8"/>
    <p:sldId id="263" r:id="rId9"/>
    <p:sldId id="270" r:id="rId10"/>
    <p:sldId id="269" r:id="rId11"/>
    <p:sldId id="268" r:id="rId12"/>
    <p:sldId id="264" r:id="rId13"/>
    <p:sldId id="265" r:id="rId14"/>
    <p:sldId id="266"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59" d="100"/>
          <a:sy n="59" d="100"/>
        </p:scale>
        <p:origin x="940"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ata2.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colors1.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0FDC03-7BF4-4516-A47C-536D960EF228}"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8906D2A5-55EB-474A-808A-040389BD6766}">
      <dgm:prSet/>
      <dgm:spPr/>
      <dgm:t>
        <a:bodyPr/>
        <a:lstStyle/>
        <a:p>
          <a:r>
            <a:rPr lang="en-US" dirty="0">
              <a:latin typeface="Arial Nova" panose="020B0504020202020204" pitchFamily="34" charset="0"/>
            </a:rPr>
            <a:t>The system manages multiple AGVs that transport luggage and require periodic charging at limited charging stations.</a:t>
          </a:r>
        </a:p>
      </dgm:t>
    </dgm:pt>
    <dgm:pt modelId="{B5635DC5-D974-48C6-96F6-75C1B20EACD0}" type="parTrans" cxnId="{5952AFD4-4EB6-4BE7-8F4D-E4B1C3FCADE2}">
      <dgm:prSet/>
      <dgm:spPr/>
      <dgm:t>
        <a:bodyPr/>
        <a:lstStyle/>
        <a:p>
          <a:endParaRPr lang="en-US">
            <a:latin typeface="Arial Nova" panose="020B0504020202020204" pitchFamily="34" charset="0"/>
          </a:endParaRPr>
        </a:p>
      </dgm:t>
    </dgm:pt>
    <dgm:pt modelId="{09AF2C18-B5AB-4CD9-9E6F-8B3C0BDB8E18}" type="sibTrans" cxnId="{5952AFD4-4EB6-4BE7-8F4D-E4B1C3FCADE2}">
      <dgm:prSet/>
      <dgm:spPr/>
      <dgm:t>
        <a:bodyPr/>
        <a:lstStyle/>
        <a:p>
          <a:endParaRPr lang="en-US">
            <a:latin typeface="Arial Nova" panose="020B0504020202020204" pitchFamily="34" charset="0"/>
          </a:endParaRPr>
        </a:p>
      </dgm:t>
    </dgm:pt>
    <dgm:pt modelId="{405D4EB2-97B8-4C00-8BDF-4490E1A8114A}">
      <dgm:prSet/>
      <dgm:spPr/>
      <dgm:t>
        <a:bodyPr/>
        <a:lstStyle/>
        <a:p>
          <a:r>
            <a:rPr lang="en-US">
              <a:latin typeface="Arial Nova" panose="020B0504020202020204" pitchFamily="34" charset="0"/>
            </a:rPr>
            <a:t>It includes modules for scheduling tasks (TaskManager), managing waiting queues for charging (QueueManage), and monitoring each charging station’s status (ChargingStation).</a:t>
          </a:r>
        </a:p>
      </dgm:t>
    </dgm:pt>
    <dgm:pt modelId="{21F33F50-1DAB-4F92-BF56-1E5A8C011FB6}" type="parTrans" cxnId="{810F3E00-43C1-4D30-AD03-D0EBBEBBD9FE}">
      <dgm:prSet/>
      <dgm:spPr/>
      <dgm:t>
        <a:bodyPr/>
        <a:lstStyle/>
        <a:p>
          <a:endParaRPr lang="en-US">
            <a:latin typeface="Arial Nova" panose="020B0504020202020204" pitchFamily="34" charset="0"/>
          </a:endParaRPr>
        </a:p>
      </dgm:t>
    </dgm:pt>
    <dgm:pt modelId="{04D5F1FC-FDB6-4C94-AA3A-781D43B48D60}" type="sibTrans" cxnId="{810F3E00-43C1-4D30-AD03-D0EBBEBBD9FE}">
      <dgm:prSet/>
      <dgm:spPr/>
      <dgm:t>
        <a:bodyPr/>
        <a:lstStyle/>
        <a:p>
          <a:endParaRPr lang="en-US">
            <a:latin typeface="Arial Nova" panose="020B0504020202020204" pitchFamily="34" charset="0"/>
          </a:endParaRPr>
        </a:p>
      </dgm:t>
    </dgm:pt>
    <dgm:pt modelId="{037918D1-5880-41F6-9A9D-8D1419AD8384}">
      <dgm:prSet/>
      <dgm:spPr/>
      <dgm:t>
        <a:bodyPr/>
        <a:lstStyle/>
        <a:p>
          <a:r>
            <a:rPr lang="en-US">
              <a:latin typeface="Arial Nova" panose="020B0504020202020204" pitchFamily="34" charset="0"/>
            </a:rPr>
            <a:t>Robust error handling is provided through custom exceptions like StationBusyException, ensuring AGVs don’t try to use a busy charger.</a:t>
          </a:r>
        </a:p>
      </dgm:t>
    </dgm:pt>
    <dgm:pt modelId="{247135C4-E26D-47E8-966C-7B3B83F1C5F0}" type="parTrans" cxnId="{4EBB0933-90E6-4EC2-B303-FDBC4ABFE4F7}">
      <dgm:prSet/>
      <dgm:spPr/>
      <dgm:t>
        <a:bodyPr/>
        <a:lstStyle/>
        <a:p>
          <a:endParaRPr lang="en-US">
            <a:latin typeface="Arial Nova" panose="020B0504020202020204" pitchFamily="34" charset="0"/>
          </a:endParaRPr>
        </a:p>
      </dgm:t>
    </dgm:pt>
    <dgm:pt modelId="{9620C241-B0C8-401C-9E6A-2A40AD89C4E2}" type="sibTrans" cxnId="{4EBB0933-90E6-4EC2-B303-FDBC4ABFE4F7}">
      <dgm:prSet/>
      <dgm:spPr/>
      <dgm:t>
        <a:bodyPr/>
        <a:lstStyle/>
        <a:p>
          <a:endParaRPr lang="en-US">
            <a:latin typeface="Arial Nova" panose="020B0504020202020204" pitchFamily="34" charset="0"/>
          </a:endParaRPr>
        </a:p>
      </dgm:t>
    </dgm:pt>
    <dgm:pt modelId="{4C8F7CEB-5245-4FD7-A59B-84A1C3FE0AC2}">
      <dgm:prSet/>
      <dgm:spPr/>
      <dgm:t>
        <a:bodyPr/>
        <a:lstStyle/>
        <a:p>
          <a:r>
            <a:rPr lang="en-US">
              <a:latin typeface="Arial Nova" panose="020B0504020202020204" pitchFamily="34" charset="0"/>
            </a:rPr>
            <a:t>The project emphasizes concurrency, as AGV tasks and queueing run in parallel threads to simulate real-world, simultaneous operations.</a:t>
          </a:r>
        </a:p>
      </dgm:t>
    </dgm:pt>
    <dgm:pt modelId="{73FA8FC4-F0E4-4EA7-B5BC-7A77288A621F}" type="parTrans" cxnId="{F83E168E-E297-4CA3-BFDD-F3413AA43A91}">
      <dgm:prSet/>
      <dgm:spPr/>
      <dgm:t>
        <a:bodyPr/>
        <a:lstStyle/>
        <a:p>
          <a:endParaRPr lang="en-US">
            <a:latin typeface="Arial Nova" panose="020B0504020202020204" pitchFamily="34" charset="0"/>
          </a:endParaRPr>
        </a:p>
      </dgm:t>
    </dgm:pt>
    <dgm:pt modelId="{E73AE840-FF74-4532-A54B-D77FD9677016}" type="sibTrans" cxnId="{F83E168E-E297-4CA3-BFDD-F3413AA43A91}">
      <dgm:prSet/>
      <dgm:spPr/>
      <dgm:t>
        <a:bodyPr/>
        <a:lstStyle/>
        <a:p>
          <a:endParaRPr lang="en-US">
            <a:latin typeface="Arial Nova" panose="020B0504020202020204" pitchFamily="34" charset="0"/>
          </a:endParaRPr>
        </a:p>
      </dgm:t>
    </dgm:pt>
    <dgm:pt modelId="{4D267DDA-24AF-4AF9-B06F-B339D685B3F7}">
      <dgm:prSet/>
      <dgm:spPr/>
      <dgm:t>
        <a:bodyPr/>
        <a:lstStyle/>
        <a:p>
          <a:r>
            <a:rPr lang="en-US">
              <a:latin typeface="Arial Nova" panose="020B0504020202020204" pitchFamily="34" charset="0"/>
            </a:rPr>
            <a:t>We use automated unit tests to verify that core features, such as task assignment and queue management, behave correctly under various scenarios.</a:t>
          </a:r>
        </a:p>
      </dgm:t>
    </dgm:pt>
    <dgm:pt modelId="{0EFEFD2A-D6CB-4D10-8DAB-1A0889BA541D}" type="parTrans" cxnId="{2B21DA3B-8B86-4C87-9394-73A2D8D23087}">
      <dgm:prSet/>
      <dgm:spPr/>
      <dgm:t>
        <a:bodyPr/>
        <a:lstStyle/>
        <a:p>
          <a:endParaRPr lang="en-US">
            <a:latin typeface="Arial Nova" panose="020B0504020202020204" pitchFamily="34" charset="0"/>
          </a:endParaRPr>
        </a:p>
      </dgm:t>
    </dgm:pt>
    <dgm:pt modelId="{B76476AA-2A9E-4391-8254-307C82DE6353}" type="sibTrans" cxnId="{2B21DA3B-8B86-4C87-9394-73A2D8D23087}">
      <dgm:prSet/>
      <dgm:spPr/>
      <dgm:t>
        <a:bodyPr/>
        <a:lstStyle/>
        <a:p>
          <a:endParaRPr lang="en-US">
            <a:latin typeface="Arial Nova" panose="020B0504020202020204" pitchFamily="34" charset="0"/>
          </a:endParaRPr>
        </a:p>
      </dgm:t>
    </dgm:pt>
    <dgm:pt modelId="{9D6625FF-3CDA-4F69-AC8B-A935AF629E3D}" type="pres">
      <dgm:prSet presAssocID="{220FDC03-7BF4-4516-A47C-536D960EF228}" presName="root" presStyleCnt="0">
        <dgm:presLayoutVars>
          <dgm:dir/>
          <dgm:resizeHandles val="exact"/>
        </dgm:presLayoutVars>
      </dgm:prSet>
      <dgm:spPr/>
    </dgm:pt>
    <dgm:pt modelId="{6AD7F308-26C2-4A58-8D8E-8A3F091D09BE}" type="pres">
      <dgm:prSet presAssocID="{8906D2A5-55EB-474A-808A-040389BD6766}" presName="compNode" presStyleCnt="0"/>
      <dgm:spPr/>
    </dgm:pt>
    <dgm:pt modelId="{94137874-BCA7-4310-9225-3EC16CC52614}" type="pres">
      <dgm:prSet presAssocID="{8906D2A5-55EB-474A-808A-040389BD6766}"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Robot with solid fill"/>
        </a:ext>
      </dgm:extLst>
    </dgm:pt>
    <dgm:pt modelId="{1C931A8C-EAAF-434F-B53B-0F754C29F88C}" type="pres">
      <dgm:prSet presAssocID="{8906D2A5-55EB-474A-808A-040389BD6766}" presName="spaceRect" presStyleCnt="0"/>
      <dgm:spPr/>
    </dgm:pt>
    <dgm:pt modelId="{801CE0C7-B064-4BC0-A7DD-E282D66B370C}" type="pres">
      <dgm:prSet presAssocID="{8906D2A5-55EB-474A-808A-040389BD6766}" presName="textRect" presStyleLbl="revTx" presStyleIdx="0" presStyleCnt="5">
        <dgm:presLayoutVars>
          <dgm:chMax val="1"/>
          <dgm:chPref val="1"/>
        </dgm:presLayoutVars>
      </dgm:prSet>
      <dgm:spPr/>
    </dgm:pt>
    <dgm:pt modelId="{7E43473D-6D07-4B3C-907D-A4D0EDCD6881}" type="pres">
      <dgm:prSet presAssocID="{09AF2C18-B5AB-4CD9-9E6F-8B3C0BDB8E18}" presName="sibTrans" presStyleCnt="0"/>
      <dgm:spPr/>
    </dgm:pt>
    <dgm:pt modelId="{888646BD-81D0-4319-BBAC-0F28CB1010BE}" type="pres">
      <dgm:prSet presAssocID="{405D4EB2-97B8-4C00-8BDF-4490E1A8114A}" presName="compNode" presStyleCnt="0"/>
      <dgm:spPr/>
    </dgm:pt>
    <dgm:pt modelId="{EE1DFCE6-8584-46CA-8672-4A16A3710F8A}" type="pres">
      <dgm:prSet presAssocID="{405D4EB2-97B8-4C00-8BDF-4490E1A8114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C0130B44-4F24-4A7D-9DC5-AEEA45CD8523}" type="pres">
      <dgm:prSet presAssocID="{405D4EB2-97B8-4C00-8BDF-4490E1A8114A}" presName="spaceRect" presStyleCnt="0"/>
      <dgm:spPr/>
    </dgm:pt>
    <dgm:pt modelId="{0C5134D3-862E-4560-B044-E389C845AD19}" type="pres">
      <dgm:prSet presAssocID="{405D4EB2-97B8-4C00-8BDF-4490E1A8114A}" presName="textRect" presStyleLbl="revTx" presStyleIdx="1" presStyleCnt="5">
        <dgm:presLayoutVars>
          <dgm:chMax val="1"/>
          <dgm:chPref val="1"/>
        </dgm:presLayoutVars>
      </dgm:prSet>
      <dgm:spPr/>
    </dgm:pt>
    <dgm:pt modelId="{324CE28B-B1A6-444D-BE6E-5BE0A6EA84EF}" type="pres">
      <dgm:prSet presAssocID="{04D5F1FC-FDB6-4C94-AA3A-781D43B48D60}" presName="sibTrans" presStyleCnt="0"/>
      <dgm:spPr/>
    </dgm:pt>
    <dgm:pt modelId="{3324CD2B-4812-4F9D-A77A-2289C6D00144}" type="pres">
      <dgm:prSet presAssocID="{037918D1-5880-41F6-9A9D-8D1419AD8384}" presName="compNode" presStyleCnt="0"/>
      <dgm:spPr/>
    </dgm:pt>
    <dgm:pt modelId="{3D23D928-7EB1-46F8-B601-DBE1218FECC8}" type="pres">
      <dgm:prSet presAssocID="{037918D1-5880-41F6-9A9D-8D1419AD838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lectrician"/>
        </a:ext>
      </dgm:extLst>
    </dgm:pt>
    <dgm:pt modelId="{E1561C1E-F15F-4CB5-89FE-BD7F68E84685}" type="pres">
      <dgm:prSet presAssocID="{037918D1-5880-41F6-9A9D-8D1419AD8384}" presName="spaceRect" presStyleCnt="0"/>
      <dgm:spPr/>
    </dgm:pt>
    <dgm:pt modelId="{85D3EDF1-5F96-438C-BE4B-E490C5B1597C}" type="pres">
      <dgm:prSet presAssocID="{037918D1-5880-41F6-9A9D-8D1419AD8384}" presName="textRect" presStyleLbl="revTx" presStyleIdx="2" presStyleCnt="5">
        <dgm:presLayoutVars>
          <dgm:chMax val="1"/>
          <dgm:chPref val="1"/>
        </dgm:presLayoutVars>
      </dgm:prSet>
      <dgm:spPr/>
    </dgm:pt>
    <dgm:pt modelId="{CF60CC0B-5CEB-46B2-A515-8BB45BBA98A7}" type="pres">
      <dgm:prSet presAssocID="{9620C241-B0C8-401C-9E6A-2A40AD89C4E2}" presName="sibTrans" presStyleCnt="0"/>
      <dgm:spPr/>
    </dgm:pt>
    <dgm:pt modelId="{1538D528-76C3-4435-AF4D-325612E395F1}" type="pres">
      <dgm:prSet presAssocID="{4C8F7CEB-5245-4FD7-A59B-84A1C3FE0AC2}" presName="compNode" presStyleCnt="0"/>
      <dgm:spPr/>
    </dgm:pt>
    <dgm:pt modelId="{F1ACC2AE-1FC4-42C3-BAEC-2A370C408571}" type="pres">
      <dgm:prSet presAssocID="{4C8F7CEB-5245-4FD7-A59B-84A1C3FE0AC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lowchart"/>
        </a:ext>
      </dgm:extLst>
    </dgm:pt>
    <dgm:pt modelId="{BC7C300D-0491-4450-9AF8-ED055FC698F7}" type="pres">
      <dgm:prSet presAssocID="{4C8F7CEB-5245-4FD7-A59B-84A1C3FE0AC2}" presName="spaceRect" presStyleCnt="0"/>
      <dgm:spPr/>
    </dgm:pt>
    <dgm:pt modelId="{A4EAF3B0-F888-4FF6-AF68-F5BD56155DC2}" type="pres">
      <dgm:prSet presAssocID="{4C8F7CEB-5245-4FD7-A59B-84A1C3FE0AC2}" presName="textRect" presStyleLbl="revTx" presStyleIdx="3" presStyleCnt="5">
        <dgm:presLayoutVars>
          <dgm:chMax val="1"/>
          <dgm:chPref val="1"/>
        </dgm:presLayoutVars>
      </dgm:prSet>
      <dgm:spPr/>
    </dgm:pt>
    <dgm:pt modelId="{3FA549B4-EAAB-4247-87E2-E1ACB24C2197}" type="pres">
      <dgm:prSet presAssocID="{E73AE840-FF74-4532-A54B-D77FD9677016}" presName="sibTrans" presStyleCnt="0"/>
      <dgm:spPr/>
    </dgm:pt>
    <dgm:pt modelId="{C1AC85F6-F875-4E6E-9CB5-40BB72FBBE38}" type="pres">
      <dgm:prSet presAssocID="{4D267DDA-24AF-4AF9-B06F-B339D685B3F7}" presName="compNode" presStyleCnt="0"/>
      <dgm:spPr/>
    </dgm:pt>
    <dgm:pt modelId="{C37A5650-959F-42B7-80D5-055EB8FF5B94}" type="pres">
      <dgm:prSet presAssocID="{4D267DDA-24AF-4AF9-B06F-B339D685B3F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ierarchy"/>
        </a:ext>
      </dgm:extLst>
    </dgm:pt>
    <dgm:pt modelId="{570A3316-0BE1-4733-B7FA-B07CC2FAE136}" type="pres">
      <dgm:prSet presAssocID="{4D267DDA-24AF-4AF9-B06F-B339D685B3F7}" presName="spaceRect" presStyleCnt="0"/>
      <dgm:spPr/>
    </dgm:pt>
    <dgm:pt modelId="{44FA6AD4-E895-476E-92A4-60FF26155CF8}" type="pres">
      <dgm:prSet presAssocID="{4D267DDA-24AF-4AF9-B06F-B339D685B3F7}" presName="textRect" presStyleLbl="revTx" presStyleIdx="4" presStyleCnt="5">
        <dgm:presLayoutVars>
          <dgm:chMax val="1"/>
          <dgm:chPref val="1"/>
        </dgm:presLayoutVars>
      </dgm:prSet>
      <dgm:spPr/>
    </dgm:pt>
  </dgm:ptLst>
  <dgm:cxnLst>
    <dgm:cxn modelId="{810F3E00-43C1-4D30-AD03-D0EBBEBBD9FE}" srcId="{220FDC03-7BF4-4516-A47C-536D960EF228}" destId="{405D4EB2-97B8-4C00-8BDF-4490E1A8114A}" srcOrd="1" destOrd="0" parTransId="{21F33F50-1DAB-4F92-BF56-1E5A8C011FB6}" sibTransId="{04D5F1FC-FDB6-4C94-AA3A-781D43B48D60}"/>
    <dgm:cxn modelId="{4EBB0933-90E6-4EC2-B303-FDBC4ABFE4F7}" srcId="{220FDC03-7BF4-4516-A47C-536D960EF228}" destId="{037918D1-5880-41F6-9A9D-8D1419AD8384}" srcOrd="2" destOrd="0" parTransId="{247135C4-E26D-47E8-966C-7B3B83F1C5F0}" sibTransId="{9620C241-B0C8-401C-9E6A-2A40AD89C4E2}"/>
    <dgm:cxn modelId="{7F4AE737-4D61-4950-97EF-C6CB0B666EC6}" type="presOf" srcId="{405D4EB2-97B8-4C00-8BDF-4490E1A8114A}" destId="{0C5134D3-862E-4560-B044-E389C845AD19}" srcOrd="0" destOrd="0" presId="urn:microsoft.com/office/officeart/2018/2/layout/IconLabelList"/>
    <dgm:cxn modelId="{2B21DA3B-8B86-4C87-9394-73A2D8D23087}" srcId="{220FDC03-7BF4-4516-A47C-536D960EF228}" destId="{4D267DDA-24AF-4AF9-B06F-B339D685B3F7}" srcOrd="4" destOrd="0" parTransId="{0EFEFD2A-D6CB-4D10-8DAB-1A0889BA541D}" sibTransId="{B76476AA-2A9E-4391-8254-307C82DE6353}"/>
    <dgm:cxn modelId="{1F62904C-7DE8-45D6-9B00-B41CA6A1150A}" type="presOf" srcId="{037918D1-5880-41F6-9A9D-8D1419AD8384}" destId="{85D3EDF1-5F96-438C-BE4B-E490C5B1597C}" srcOrd="0" destOrd="0" presId="urn:microsoft.com/office/officeart/2018/2/layout/IconLabelList"/>
    <dgm:cxn modelId="{72C90675-7C5D-4E99-9D46-126A5C85E369}" type="presOf" srcId="{4D267DDA-24AF-4AF9-B06F-B339D685B3F7}" destId="{44FA6AD4-E895-476E-92A4-60FF26155CF8}" srcOrd="0" destOrd="0" presId="urn:microsoft.com/office/officeart/2018/2/layout/IconLabelList"/>
    <dgm:cxn modelId="{DA40AC8D-2444-4E77-B161-456BA6F54B30}" type="presOf" srcId="{220FDC03-7BF4-4516-A47C-536D960EF228}" destId="{9D6625FF-3CDA-4F69-AC8B-A935AF629E3D}" srcOrd="0" destOrd="0" presId="urn:microsoft.com/office/officeart/2018/2/layout/IconLabelList"/>
    <dgm:cxn modelId="{F83E168E-E297-4CA3-BFDD-F3413AA43A91}" srcId="{220FDC03-7BF4-4516-A47C-536D960EF228}" destId="{4C8F7CEB-5245-4FD7-A59B-84A1C3FE0AC2}" srcOrd="3" destOrd="0" parTransId="{73FA8FC4-F0E4-4EA7-B5BC-7A77288A621F}" sibTransId="{E73AE840-FF74-4532-A54B-D77FD9677016}"/>
    <dgm:cxn modelId="{606FD68E-5636-487B-99CA-95911E729B49}" type="presOf" srcId="{4C8F7CEB-5245-4FD7-A59B-84A1C3FE0AC2}" destId="{A4EAF3B0-F888-4FF6-AF68-F5BD56155DC2}" srcOrd="0" destOrd="0" presId="urn:microsoft.com/office/officeart/2018/2/layout/IconLabelList"/>
    <dgm:cxn modelId="{F6E381CC-AAD0-4B07-AF63-B3B62FE895F3}" type="presOf" srcId="{8906D2A5-55EB-474A-808A-040389BD6766}" destId="{801CE0C7-B064-4BC0-A7DD-E282D66B370C}" srcOrd="0" destOrd="0" presId="urn:microsoft.com/office/officeart/2018/2/layout/IconLabelList"/>
    <dgm:cxn modelId="{5952AFD4-4EB6-4BE7-8F4D-E4B1C3FCADE2}" srcId="{220FDC03-7BF4-4516-A47C-536D960EF228}" destId="{8906D2A5-55EB-474A-808A-040389BD6766}" srcOrd="0" destOrd="0" parTransId="{B5635DC5-D974-48C6-96F6-75C1B20EACD0}" sibTransId="{09AF2C18-B5AB-4CD9-9E6F-8B3C0BDB8E18}"/>
    <dgm:cxn modelId="{E44BFBAC-ACA2-48BE-94F6-77721CD9727A}" type="presParOf" srcId="{9D6625FF-3CDA-4F69-AC8B-A935AF629E3D}" destId="{6AD7F308-26C2-4A58-8D8E-8A3F091D09BE}" srcOrd="0" destOrd="0" presId="urn:microsoft.com/office/officeart/2018/2/layout/IconLabelList"/>
    <dgm:cxn modelId="{3BA591EB-40AE-4945-9133-6FDD329C9BD4}" type="presParOf" srcId="{6AD7F308-26C2-4A58-8D8E-8A3F091D09BE}" destId="{94137874-BCA7-4310-9225-3EC16CC52614}" srcOrd="0" destOrd="0" presId="urn:microsoft.com/office/officeart/2018/2/layout/IconLabelList"/>
    <dgm:cxn modelId="{40342BEA-B1EF-48B1-8E98-587B7DDF1332}" type="presParOf" srcId="{6AD7F308-26C2-4A58-8D8E-8A3F091D09BE}" destId="{1C931A8C-EAAF-434F-B53B-0F754C29F88C}" srcOrd="1" destOrd="0" presId="urn:microsoft.com/office/officeart/2018/2/layout/IconLabelList"/>
    <dgm:cxn modelId="{AFFD8BD9-8835-482D-AFCC-97F7B2918820}" type="presParOf" srcId="{6AD7F308-26C2-4A58-8D8E-8A3F091D09BE}" destId="{801CE0C7-B064-4BC0-A7DD-E282D66B370C}" srcOrd="2" destOrd="0" presId="urn:microsoft.com/office/officeart/2018/2/layout/IconLabelList"/>
    <dgm:cxn modelId="{657DFA77-32F0-4ACD-B994-2732D4660C5D}" type="presParOf" srcId="{9D6625FF-3CDA-4F69-AC8B-A935AF629E3D}" destId="{7E43473D-6D07-4B3C-907D-A4D0EDCD6881}" srcOrd="1" destOrd="0" presId="urn:microsoft.com/office/officeart/2018/2/layout/IconLabelList"/>
    <dgm:cxn modelId="{D1F901C0-FDC9-47B3-BFD2-D95FEF68898F}" type="presParOf" srcId="{9D6625FF-3CDA-4F69-AC8B-A935AF629E3D}" destId="{888646BD-81D0-4319-BBAC-0F28CB1010BE}" srcOrd="2" destOrd="0" presId="urn:microsoft.com/office/officeart/2018/2/layout/IconLabelList"/>
    <dgm:cxn modelId="{BA2EA117-7C1C-44C8-8808-CD341D9D3EB2}" type="presParOf" srcId="{888646BD-81D0-4319-BBAC-0F28CB1010BE}" destId="{EE1DFCE6-8584-46CA-8672-4A16A3710F8A}" srcOrd="0" destOrd="0" presId="urn:microsoft.com/office/officeart/2018/2/layout/IconLabelList"/>
    <dgm:cxn modelId="{02335A4F-67B9-4595-B33A-86181801CFC2}" type="presParOf" srcId="{888646BD-81D0-4319-BBAC-0F28CB1010BE}" destId="{C0130B44-4F24-4A7D-9DC5-AEEA45CD8523}" srcOrd="1" destOrd="0" presId="urn:microsoft.com/office/officeart/2018/2/layout/IconLabelList"/>
    <dgm:cxn modelId="{211B636D-FF6A-4D5D-AB9A-0E7396D6638A}" type="presParOf" srcId="{888646BD-81D0-4319-BBAC-0F28CB1010BE}" destId="{0C5134D3-862E-4560-B044-E389C845AD19}" srcOrd="2" destOrd="0" presId="urn:microsoft.com/office/officeart/2018/2/layout/IconLabelList"/>
    <dgm:cxn modelId="{BC1DE026-7DEF-4FE1-BEF4-A2E58A8A408C}" type="presParOf" srcId="{9D6625FF-3CDA-4F69-AC8B-A935AF629E3D}" destId="{324CE28B-B1A6-444D-BE6E-5BE0A6EA84EF}" srcOrd="3" destOrd="0" presId="urn:microsoft.com/office/officeart/2018/2/layout/IconLabelList"/>
    <dgm:cxn modelId="{1511DF46-6EB9-4023-A80C-F43E30A0270C}" type="presParOf" srcId="{9D6625FF-3CDA-4F69-AC8B-A935AF629E3D}" destId="{3324CD2B-4812-4F9D-A77A-2289C6D00144}" srcOrd="4" destOrd="0" presId="urn:microsoft.com/office/officeart/2018/2/layout/IconLabelList"/>
    <dgm:cxn modelId="{D1FD75C6-984F-4B50-B353-776C28E8B5F1}" type="presParOf" srcId="{3324CD2B-4812-4F9D-A77A-2289C6D00144}" destId="{3D23D928-7EB1-46F8-B601-DBE1218FECC8}" srcOrd="0" destOrd="0" presId="urn:microsoft.com/office/officeart/2018/2/layout/IconLabelList"/>
    <dgm:cxn modelId="{A51A007A-F7F0-412F-84D4-D5D59318306F}" type="presParOf" srcId="{3324CD2B-4812-4F9D-A77A-2289C6D00144}" destId="{E1561C1E-F15F-4CB5-89FE-BD7F68E84685}" srcOrd="1" destOrd="0" presId="urn:microsoft.com/office/officeart/2018/2/layout/IconLabelList"/>
    <dgm:cxn modelId="{74832DAA-4428-44FD-ADFD-E8093CBC1B36}" type="presParOf" srcId="{3324CD2B-4812-4F9D-A77A-2289C6D00144}" destId="{85D3EDF1-5F96-438C-BE4B-E490C5B1597C}" srcOrd="2" destOrd="0" presId="urn:microsoft.com/office/officeart/2018/2/layout/IconLabelList"/>
    <dgm:cxn modelId="{FC9F3902-EE12-44D6-B4F8-4C46F66852E9}" type="presParOf" srcId="{9D6625FF-3CDA-4F69-AC8B-A935AF629E3D}" destId="{CF60CC0B-5CEB-46B2-A515-8BB45BBA98A7}" srcOrd="5" destOrd="0" presId="urn:microsoft.com/office/officeart/2018/2/layout/IconLabelList"/>
    <dgm:cxn modelId="{7CBBD453-66EE-495C-875B-FB41060E2780}" type="presParOf" srcId="{9D6625FF-3CDA-4F69-AC8B-A935AF629E3D}" destId="{1538D528-76C3-4435-AF4D-325612E395F1}" srcOrd="6" destOrd="0" presId="urn:microsoft.com/office/officeart/2018/2/layout/IconLabelList"/>
    <dgm:cxn modelId="{CA6F7120-4E94-412B-88F8-8A8CAC9215EF}" type="presParOf" srcId="{1538D528-76C3-4435-AF4D-325612E395F1}" destId="{F1ACC2AE-1FC4-42C3-BAEC-2A370C408571}" srcOrd="0" destOrd="0" presId="urn:microsoft.com/office/officeart/2018/2/layout/IconLabelList"/>
    <dgm:cxn modelId="{AC1C3A4C-0BB5-4989-A557-8101747C13CB}" type="presParOf" srcId="{1538D528-76C3-4435-AF4D-325612E395F1}" destId="{BC7C300D-0491-4450-9AF8-ED055FC698F7}" srcOrd="1" destOrd="0" presId="urn:microsoft.com/office/officeart/2018/2/layout/IconLabelList"/>
    <dgm:cxn modelId="{E8225605-2A72-4ED2-AE96-AFB07B6CB878}" type="presParOf" srcId="{1538D528-76C3-4435-AF4D-325612E395F1}" destId="{A4EAF3B0-F888-4FF6-AF68-F5BD56155DC2}" srcOrd="2" destOrd="0" presId="urn:microsoft.com/office/officeart/2018/2/layout/IconLabelList"/>
    <dgm:cxn modelId="{577A5A9A-D9B1-4952-B723-D937A935D1DE}" type="presParOf" srcId="{9D6625FF-3CDA-4F69-AC8B-A935AF629E3D}" destId="{3FA549B4-EAAB-4247-87E2-E1ACB24C2197}" srcOrd="7" destOrd="0" presId="urn:microsoft.com/office/officeart/2018/2/layout/IconLabelList"/>
    <dgm:cxn modelId="{EB721DDE-7CEF-44B2-AE61-E2EC484D483D}" type="presParOf" srcId="{9D6625FF-3CDA-4F69-AC8B-A935AF629E3D}" destId="{C1AC85F6-F875-4E6E-9CB5-40BB72FBBE38}" srcOrd="8" destOrd="0" presId="urn:microsoft.com/office/officeart/2018/2/layout/IconLabelList"/>
    <dgm:cxn modelId="{9BE77AEB-C05E-4461-BB6D-06940CFE53EC}" type="presParOf" srcId="{C1AC85F6-F875-4E6E-9CB5-40BB72FBBE38}" destId="{C37A5650-959F-42B7-80D5-055EB8FF5B94}" srcOrd="0" destOrd="0" presId="urn:microsoft.com/office/officeart/2018/2/layout/IconLabelList"/>
    <dgm:cxn modelId="{90C328ED-3F7B-484A-BA3B-29663F632BC8}" type="presParOf" srcId="{C1AC85F6-F875-4E6E-9CB5-40BB72FBBE38}" destId="{570A3316-0BE1-4733-B7FA-B07CC2FAE136}" srcOrd="1" destOrd="0" presId="urn:microsoft.com/office/officeart/2018/2/layout/IconLabelList"/>
    <dgm:cxn modelId="{A55E6443-54A8-4717-B5D6-E5D7FBABC706}" type="presParOf" srcId="{C1AC85F6-F875-4E6E-9CB5-40BB72FBBE38}" destId="{44FA6AD4-E895-476E-92A4-60FF26155CF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5B7FF8F-E621-4A55-8402-3454531F230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8931064-212A-4BD5-80CE-EC59C59578EF}">
      <dgm:prSet/>
      <dgm:spPr/>
      <dgm:t>
        <a:bodyPr/>
        <a:lstStyle/>
        <a:p>
          <a:r>
            <a:rPr lang="en-US"/>
            <a:t>Successfully developed a modular and concurrent system simulating airport luggage handling with AGVs and charging stations.</a:t>
          </a:r>
        </a:p>
      </dgm:t>
    </dgm:pt>
    <dgm:pt modelId="{F25C0A96-ABBB-47D8-B3EA-18E728BD60C6}" type="parTrans" cxnId="{A2CA0879-DCD7-4AA2-9E91-7106C57F8805}">
      <dgm:prSet/>
      <dgm:spPr/>
      <dgm:t>
        <a:bodyPr/>
        <a:lstStyle/>
        <a:p>
          <a:endParaRPr lang="en-US"/>
        </a:p>
      </dgm:t>
    </dgm:pt>
    <dgm:pt modelId="{57A64900-AC3C-4203-B1C6-5F587AD528A7}" type="sibTrans" cxnId="{A2CA0879-DCD7-4AA2-9E91-7106C57F8805}">
      <dgm:prSet/>
      <dgm:spPr/>
      <dgm:t>
        <a:bodyPr/>
        <a:lstStyle/>
        <a:p>
          <a:endParaRPr lang="en-US"/>
        </a:p>
      </dgm:t>
    </dgm:pt>
    <dgm:pt modelId="{B4B717EC-F71E-49FE-B0E8-E19098935F07}">
      <dgm:prSet/>
      <dgm:spPr/>
      <dgm:t>
        <a:bodyPr/>
        <a:lstStyle/>
        <a:p>
          <a:r>
            <a:rPr lang="en-US"/>
            <a:t>Designed clear coordination between task management, queue handling, and charging station availability to ensure efficient operation.</a:t>
          </a:r>
        </a:p>
      </dgm:t>
    </dgm:pt>
    <dgm:pt modelId="{950017E5-C201-4F40-8A54-51DBD8FF8E53}" type="parTrans" cxnId="{0CF407C9-4215-41E0-8A71-8AE4285607D0}">
      <dgm:prSet/>
      <dgm:spPr/>
      <dgm:t>
        <a:bodyPr/>
        <a:lstStyle/>
        <a:p>
          <a:endParaRPr lang="en-US"/>
        </a:p>
      </dgm:t>
    </dgm:pt>
    <dgm:pt modelId="{14A6E2BF-199C-4F67-9C0F-8FCA47824439}" type="sibTrans" cxnId="{0CF407C9-4215-41E0-8A71-8AE4285607D0}">
      <dgm:prSet/>
      <dgm:spPr/>
      <dgm:t>
        <a:bodyPr/>
        <a:lstStyle/>
        <a:p>
          <a:endParaRPr lang="en-US"/>
        </a:p>
      </dgm:t>
    </dgm:pt>
    <dgm:pt modelId="{4A97BDA5-3E0D-4F06-8973-CF220EE95AB7}">
      <dgm:prSet/>
      <dgm:spPr/>
      <dgm:t>
        <a:bodyPr/>
        <a:lstStyle/>
        <a:p>
          <a:r>
            <a:rPr lang="en-US"/>
            <a:t>Employed custom exception handling to robustly manage error scenarios like busy charging stations.</a:t>
          </a:r>
        </a:p>
      </dgm:t>
    </dgm:pt>
    <dgm:pt modelId="{EE2709F0-06ED-4664-82FC-0C9B0D893F23}" type="parTrans" cxnId="{C6CAE0E7-4D8F-4FD1-B9FC-D93709DCAF5B}">
      <dgm:prSet/>
      <dgm:spPr/>
      <dgm:t>
        <a:bodyPr/>
        <a:lstStyle/>
        <a:p>
          <a:endParaRPr lang="en-US"/>
        </a:p>
      </dgm:t>
    </dgm:pt>
    <dgm:pt modelId="{EF944B2F-2803-4BCE-933D-E7C308591CEC}" type="sibTrans" cxnId="{C6CAE0E7-4D8F-4FD1-B9FC-D93709DCAF5B}">
      <dgm:prSet/>
      <dgm:spPr/>
      <dgm:t>
        <a:bodyPr/>
        <a:lstStyle/>
        <a:p>
          <a:endParaRPr lang="en-US"/>
        </a:p>
      </dgm:t>
    </dgm:pt>
    <dgm:pt modelId="{A349ACFF-FB62-4BED-B3A8-24DC6C26A836}">
      <dgm:prSet/>
      <dgm:spPr/>
      <dgm:t>
        <a:bodyPr/>
        <a:lstStyle/>
        <a:p>
          <a:r>
            <a:rPr lang="en-US"/>
            <a:t>Implemented multi-threading to mimic real-world parallel AGV operations and prevent resource conflicts.</a:t>
          </a:r>
        </a:p>
      </dgm:t>
    </dgm:pt>
    <dgm:pt modelId="{A2AE8358-A39E-404C-9B2D-6E94771400E3}" type="parTrans" cxnId="{C23BF295-5A2C-4265-8503-8F4DF16C0D05}">
      <dgm:prSet/>
      <dgm:spPr/>
      <dgm:t>
        <a:bodyPr/>
        <a:lstStyle/>
        <a:p>
          <a:endParaRPr lang="en-US"/>
        </a:p>
      </dgm:t>
    </dgm:pt>
    <dgm:pt modelId="{4A77A6A4-A128-4B3F-B9A4-824406AC06DD}" type="sibTrans" cxnId="{C23BF295-5A2C-4265-8503-8F4DF16C0D05}">
      <dgm:prSet/>
      <dgm:spPr/>
      <dgm:t>
        <a:bodyPr/>
        <a:lstStyle/>
        <a:p>
          <a:endParaRPr lang="en-US"/>
        </a:p>
      </dgm:t>
    </dgm:pt>
    <dgm:pt modelId="{F5714592-C7B9-4BD0-9603-4627EC9CDD54}">
      <dgm:prSet/>
      <dgm:spPr/>
      <dgm:t>
        <a:bodyPr/>
        <a:lstStyle/>
        <a:p>
          <a:r>
            <a:rPr lang="en-US"/>
            <a:t>Validated system behavior with comprehensive unit tests to ensure reliability and correctness under different scenarios.</a:t>
          </a:r>
        </a:p>
      </dgm:t>
    </dgm:pt>
    <dgm:pt modelId="{65EE7B4B-887F-4580-87EC-C2F8D0EF1644}" type="parTrans" cxnId="{F109E16B-1E9A-45FC-90AF-61C209B107FF}">
      <dgm:prSet/>
      <dgm:spPr/>
      <dgm:t>
        <a:bodyPr/>
        <a:lstStyle/>
        <a:p>
          <a:endParaRPr lang="en-US"/>
        </a:p>
      </dgm:t>
    </dgm:pt>
    <dgm:pt modelId="{32F83EF2-A87E-4395-B70F-4A6B6A22A8DF}" type="sibTrans" cxnId="{F109E16B-1E9A-45FC-90AF-61C209B107FF}">
      <dgm:prSet/>
      <dgm:spPr/>
      <dgm:t>
        <a:bodyPr/>
        <a:lstStyle/>
        <a:p>
          <a:endParaRPr lang="en-US"/>
        </a:p>
      </dgm:t>
    </dgm:pt>
    <dgm:pt modelId="{C2330284-BD8D-4889-A967-609F0537C012}" type="pres">
      <dgm:prSet presAssocID="{35B7FF8F-E621-4A55-8402-3454531F2308}" presName="root" presStyleCnt="0">
        <dgm:presLayoutVars>
          <dgm:dir/>
          <dgm:resizeHandles val="exact"/>
        </dgm:presLayoutVars>
      </dgm:prSet>
      <dgm:spPr/>
    </dgm:pt>
    <dgm:pt modelId="{0899785E-F2C8-44C1-B27C-0EB30238C656}" type="pres">
      <dgm:prSet presAssocID="{18931064-212A-4BD5-80CE-EC59C59578EF}" presName="compNode" presStyleCnt="0"/>
      <dgm:spPr/>
    </dgm:pt>
    <dgm:pt modelId="{A83D0D86-5523-42FF-9E39-787A9F621A19}" type="pres">
      <dgm:prSet presAssocID="{18931064-212A-4BD5-80CE-EC59C59578EF}" presName="bgRect" presStyleLbl="bgShp" presStyleIdx="0" presStyleCnt="5"/>
      <dgm:spPr/>
    </dgm:pt>
    <dgm:pt modelId="{B76B7E35-12F1-4C9B-985E-C2EB5B90DDEE}" type="pres">
      <dgm:prSet presAssocID="{18931064-212A-4BD5-80CE-EC59C59578E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irplane"/>
        </a:ext>
      </dgm:extLst>
    </dgm:pt>
    <dgm:pt modelId="{34DE4B05-50E6-4968-B225-90094EEE15D8}" type="pres">
      <dgm:prSet presAssocID="{18931064-212A-4BD5-80CE-EC59C59578EF}" presName="spaceRect" presStyleCnt="0"/>
      <dgm:spPr/>
    </dgm:pt>
    <dgm:pt modelId="{C0CC0CF3-6BBE-466E-9EA2-45100A676064}" type="pres">
      <dgm:prSet presAssocID="{18931064-212A-4BD5-80CE-EC59C59578EF}" presName="parTx" presStyleLbl="revTx" presStyleIdx="0" presStyleCnt="5">
        <dgm:presLayoutVars>
          <dgm:chMax val="0"/>
          <dgm:chPref val="0"/>
        </dgm:presLayoutVars>
      </dgm:prSet>
      <dgm:spPr/>
    </dgm:pt>
    <dgm:pt modelId="{1BD4BFFD-6BBE-4A29-9472-B900D13EA82C}" type="pres">
      <dgm:prSet presAssocID="{57A64900-AC3C-4203-B1C6-5F587AD528A7}" presName="sibTrans" presStyleCnt="0"/>
      <dgm:spPr/>
    </dgm:pt>
    <dgm:pt modelId="{3C7ADE50-9078-4788-949D-442745ADA991}" type="pres">
      <dgm:prSet presAssocID="{B4B717EC-F71E-49FE-B0E8-E19098935F07}" presName="compNode" presStyleCnt="0"/>
      <dgm:spPr/>
    </dgm:pt>
    <dgm:pt modelId="{7D2182C2-41BC-4562-AF85-8692A8B3D002}" type="pres">
      <dgm:prSet presAssocID="{B4B717EC-F71E-49FE-B0E8-E19098935F07}" presName="bgRect" presStyleLbl="bgShp" presStyleIdx="1" presStyleCnt="5"/>
      <dgm:spPr/>
    </dgm:pt>
    <dgm:pt modelId="{D80EC097-37F0-4EF5-A6ED-DFA39D471E44}" type="pres">
      <dgm:prSet presAssocID="{B4B717EC-F71E-49FE-B0E8-E19098935F0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EC8680A4-39C5-49E5-9726-1FF6121A2B8B}" type="pres">
      <dgm:prSet presAssocID="{B4B717EC-F71E-49FE-B0E8-E19098935F07}" presName="spaceRect" presStyleCnt="0"/>
      <dgm:spPr/>
    </dgm:pt>
    <dgm:pt modelId="{6990A00F-CECD-415F-8A6D-5663FC335B1B}" type="pres">
      <dgm:prSet presAssocID="{B4B717EC-F71E-49FE-B0E8-E19098935F07}" presName="parTx" presStyleLbl="revTx" presStyleIdx="1" presStyleCnt="5">
        <dgm:presLayoutVars>
          <dgm:chMax val="0"/>
          <dgm:chPref val="0"/>
        </dgm:presLayoutVars>
      </dgm:prSet>
      <dgm:spPr/>
    </dgm:pt>
    <dgm:pt modelId="{FD17A74E-37A3-40F2-939A-BAA69CB58C39}" type="pres">
      <dgm:prSet presAssocID="{14A6E2BF-199C-4F67-9C0F-8FCA47824439}" presName="sibTrans" presStyleCnt="0"/>
      <dgm:spPr/>
    </dgm:pt>
    <dgm:pt modelId="{653E9806-A6DC-44EB-8EEC-EEF8B80B5C81}" type="pres">
      <dgm:prSet presAssocID="{4A97BDA5-3E0D-4F06-8973-CF220EE95AB7}" presName="compNode" presStyleCnt="0"/>
      <dgm:spPr/>
    </dgm:pt>
    <dgm:pt modelId="{A300233D-AF4B-4734-87E7-CAEE5CD7716F}" type="pres">
      <dgm:prSet presAssocID="{4A97BDA5-3E0D-4F06-8973-CF220EE95AB7}" presName="bgRect" presStyleLbl="bgShp" presStyleIdx="2" presStyleCnt="5"/>
      <dgm:spPr/>
    </dgm:pt>
    <dgm:pt modelId="{9A91FB51-49EC-4465-83DE-EB69E59D18B6}" type="pres">
      <dgm:prSet presAssocID="{4A97BDA5-3E0D-4F06-8973-CF220EE95AB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lectric Car"/>
        </a:ext>
      </dgm:extLst>
    </dgm:pt>
    <dgm:pt modelId="{751355C3-5929-4386-AC81-EBEF75F61A18}" type="pres">
      <dgm:prSet presAssocID="{4A97BDA5-3E0D-4F06-8973-CF220EE95AB7}" presName="spaceRect" presStyleCnt="0"/>
      <dgm:spPr/>
    </dgm:pt>
    <dgm:pt modelId="{BFB43808-6A6E-4FD5-BEAA-4A9554F04751}" type="pres">
      <dgm:prSet presAssocID="{4A97BDA5-3E0D-4F06-8973-CF220EE95AB7}" presName="parTx" presStyleLbl="revTx" presStyleIdx="2" presStyleCnt="5">
        <dgm:presLayoutVars>
          <dgm:chMax val="0"/>
          <dgm:chPref val="0"/>
        </dgm:presLayoutVars>
      </dgm:prSet>
      <dgm:spPr/>
    </dgm:pt>
    <dgm:pt modelId="{7595907E-35EA-41AB-87DC-838B6692AD55}" type="pres">
      <dgm:prSet presAssocID="{EF944B2F-2803-4BCE-933D-E7C308591CEC}" presName="sibTrans" presStyleCnt="0"/>
      <dgm:spPr/>
    </dgm:pt>
    <dgm:pt modelId="{A77C7334-5038-44EF-9F39-31C2545E5FCB}" type="pres">
      <dgm:prSet presAssocID="{A349ACFF-FB62-4BED-B3A8-24DC6C26A836}" presName="compNode" presStyleCnt="0"/>
      <dgm:spPr/>
    </dgm:pt>
    <dgm:pt modelId="{DB8FE793-41E6-4016-9BBD-5C5B211827F5}" type="pres">
      <dgm:prSet presAssocID="{A349ACFF-FB62-4BED-B3A8-24DC6C26A836}" presName="bgRect" presStyleLbl="bgShp" presStyleIdx="3" presStyleCnt="5"/>
      <dgm:spPr/>
    </dgm:pt>
    <dgm:pt modelId="{2F6E260A-AC76-4C92-A508-825540069EE3}" type="pres">
      <dgm:prSet presAssocID="{A349ACFF-FB62-4BED-B3A8-24DC6C26A83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isconnected"/>
        </a:ext>
      </dgm:extLst>
    </dgm:pt>
    <dgm:pt modelId="{52F084C5-B412-4EA0-89A0-17613D975625}" type="pres">
      <dgm:prSet presAssocID="{A349ACFF-FB62-4BED-B3A8-24DC6C26A836}" presName="spaceRect" presStyleCnt="0"/>
      <dgm:spPr/>
    </dgm:pt>
    <dgm:pt modelId="{C17CC139-A88C-4721-9C5A-B7F09F01D1CA}" type="pres">
      <dgm:prSet presAssocID="{A349ACFF-FB62-4BED-B3A8-24DC6C26A836}" presName="parTx" presStyleLbl="revTx" presStyleIdx="3" presStyleCnt="5">
        <dgm:presLayoutVars>
          <dgm:chMax val="0"/>
          <dgm:chPref val="0"/>
        </dgm:presLayoutVars>
      </dgm:prSet>
      <dgm:spPr/>
    </dgm:pt>
    <dgm:pt modelId="{5D566A9D-FC6A-4531-BBEA-B7EAE47E1DF5}" type="pres">
      <dgm:prSet presAssocID="{4A77A6A4-A128-4B3F-B9A4-824406AC06DD}" presName="sibTrans" presStyleCnt="0"/>
      <dgm:spPr/>
    </dgm:pt>
    <dgm:pt modelId="{032FB2BC-3748-4B57-AB6E-75AB7C51C199}" type="pres">
      <dgm:prSet presAssocID="{F5714592-C7B9-4BD0-9603-4627EC9CDD54}" presName="compNode" presStyleCnt="0"/>
      <dgm:spPr/>
    </dgm:pt>
    <dgm:pt modelId="{74DE5FDF-9F78-4D5F-967C-68002A00B25D}" type="pres">
      <dgm:prSet presAssocID="{F5714592-C7B9-4BD0-9603-4627EC9CDD54}" presName="bgRect" presStyleLbl="bgShp" presStyleIdx="4" presStyleCnt="5"/>
      <dgm:spPr/>
    </dgm:pt>
    <dgm:pt modelId="{FCC181B2-9A5C-4D9C-8349-951830A51818}" type="pres">
      <dgm:prSet presAssocID="{F5714592-C7B9-4BD0-9603-4627EC9CDD5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BB252DF5-7A0A-47E9-94B7-380ACFDC4852}" type="pres">
      <dgm:prSet presAssocID="{F5714592-C7B9-4BD0-9603-4627EC9CDD54}" presName="spaceRect" presStyleCnt="0"/>
      <dgm:spPr/>
    </dgm:pt>
    <dgm:pt modelId="{16F882C8-3248-40D8-8EF5-032D4CEBD6E3}" type="pres">
      <dgm:prSet presAssocID="{F5714592-C7B9-4BD0-9603-4627EC9CDD54}" presName="parTx" presStyleLbl="revTx" presStyleIdx="4" presStyleCnt="5">
        <dgm:presLayoutVars>
          <dgm:chMax val="0"/>
          <dgm:chPref val="0"/>
        </dgm:presLayoutVars>
      </dgm:prSet>
      <dgm:spPr/>
    </dgm:pt>
  </dgm:ptLst>
  <dgm:cxnLst>
    <dgm:cxn modelId="{979EBD19-87B5-4541-AB0A-7C894FD5C8EA}" type="presOf" srcId="{A349ACFF-FB62-4BED-B3A8-24DC6C26A836}" destId="{C17CC139-A88C-4721-9C5A-B7F09F01D1CA}" srcOrd="0" destOrd="0" presId="urn:microsoft.com/office/officeart/2018/2/layout/IconVerticalSolidList"/>
    <dgm:cxn modelId="{8EC79344-2DC4-4181-AA47-A523C747ABD8}" type="presOf" srcId="{18931064-212A-4BD5-80CE-EC59C59578EF}" destId="{C0CC0CF3-6BBE-466E-9EA2-45100A676064}" srcOrd="0" destOrd="0" presId="urn:microsoft.com/office/officeart/2018/2/layout/IconVerticalSolidList"/>
    <dgm:cxn modelId="{F109E16B-1E9A-45FC-90AF-61C209B107FF}" srcId="{35B7FF8F-E621-4A55-8402-3454531F2308}" destId="{F5714592-C7B9-4BD0-9603-4627EC9CDD54}" srcOrd="4" destOrd="0" parTransId="{65EE7B4B-887F-4580-87EC-C2F8D0EF1644}" sibTransId="{32F83EF2-A87E-4395-B70F-4A6B6A22A8DF}"/>
    <dgm:cxn modelId="{A2CA0879-DCD7-4AA2-9E91-7106C57F8805}" srcId="{35B7FF8F-E621-4A55-8402-3454531F2308}" destId="{18931064-212A-4BD5-80CE-EC59C59578EF}" srcOrd="0" destOrd="0" parTransId="{F25C0A96-ABBB-47D8-B3EA-18E728BD60C6}" sibTransId="{57A64900-AC3C-4203-B1C6-5F587AD528A7}"/>
    <dgm:cxn modelId="{99A1738F-2A66-480A-896D-22531493CDA9}" type="presOf" srcId="{F5714592-C7B9-4BD0-9603-4627EC9CDD54}" destId="{16F882C8-3248-40D8-8EF5-032D4CEBD6E3}" srcOrd="0" destOrd="0" presId="urn:microsoft.com/office/officeart/2018/2/layout/IconVerticalSolidList"/>
    <dgm:cxn modelId="{C23BF295-5A2C-4265-8503-8F4DF16C0D05}" srcId="{35B7FF8F-E621-4A55-8402-3454531F2308}" destId="{A349ACFF-FB62-4BED-B3A8-24DC6C26A836}" srcOrd="3" destOrd="0" parTransId="{A2AE8358-A39E-404C-9B2D-6E94771400E3}" sibTransId="{4A77A6A4-A128-4B3F-B9A4-824406AC06DD}"/>
    <dgm:cxn modelId="{27079FA1-C425-4A9D-A465-395A1D26B33A}" type="presOf" srcId="{B4B717EC-F71E-49FE-B0E8-E19098935F07}" destId="{6990A00F-CECD-415F-8A6D-5663FC335B1B}" srcOrd="0" destOrd="0" presId="urn:microsoft.com/office/officeart/2018/2/layout/IconVerticalSolidList"/>
    <dgm:cxn modelId="{0CF407C9-4215-41E0-8A71-8AE4285607D0}" srcId="{35B7FF8F-E621-4A55-8402-3454531F2308}" destId="{B4B717EC-F71E-49FE-B0E8-E19098935F07}" srcOrd="1" destOrd="0" parTransId="{950017E5-C201-4F40-8A54-51DBD8FF8E53}" sibTransId="{14A6E2BF-199C-4F67-9C0F-8FCA47824439}"/>
    <dgm:cxn modelId="{410E82D7-5C2A-49E1-8920-7B14C0E8ADBA}" type="presOf" srcId="{35B7FF8F-E621-4A55-8402-3454531F2308}" destId="{C2330284-BD8D-4889-A967-609F0537C012}" srcOrd="0" destOrd="0" presId="urn:microsoft.com/office/officeart/2018/2/layout/IconVerticalSolidList"/>
    <dgm:cxn modelId="{C3E249E2-C31A-49C5-B770-3717CF740955}" type="presOf" srcId="{4A97BDA5-3E0D-4F06-8973-CF220EE95AB7}" destId="{BFB43808-6A6E-4FD5-BEAA-4A9554F04751}" srcOrd="0" destOrd="0" presId="urn:microsoft.com/office/officeart/2018/2/layout/IconVerticalSolidList"/>
    <dgm:cxn modelId="{C6CAE0E7-4D8F-4FD1-B9FC-D93709DCAF5B}" srcId="{35B7FF8F-E621-4A55-8402-3454531F2308}" destId="{4A97BDA5-3E0D-4F06-8973-CF220EE95AB7}" srcOrd="2" destOrd="0" parTransId="{EE2709F0-06ED-4664-82FC-0C9B0D893F23}" sibTransId="{EF944B2F-2803-4BCE-933D-E7C308591CEC}"/>
    <dgm:cxn modelId="{89412937-5032-4684-945A-68F617AEE12A}" type="presParOf" srcId="{C2330284-BD8D-4889-A967-609F0537C012}" destId="{0899785E-F2C8-44C1-B27C-0EB30238C656}" srcOrd="0" destOrd="0" presId="urn:microsoft.com/office/officeart/2018/2/layout/IconVerticalSolidList"/>
    <dgm:cxn modelId="{FCDED040-D09F-423D-864D-C17845C5840C}" type="presParOf" srcId="{0899785E-F2C8-44C1-B27C-0EB30238C656}" destId="{A83D0D86-5523-42FF-9E39-787A9F621A19}" srcOrd="0" destOrd="0" presId="urn:microsoft.com/office/officeart/2018/2/layout/IconVerticalSolidList"/>
    <dgm:cxn modelId="{890790E6-0CC3-4654-BA8A-9E397C89D13E}" type="presParOf" srcId="{0899785E-F2C8-44C1-B27C-0EB30238C656}" destId="{B76B7E35-12F1-4C9B-985E-C2EB5B90DDEE}" srcOrd="1" destOrd="0" presId="urn:microsoft.com/office/officeart/2018/2/layout/IconVerticalSolidList"/>
    <dgm:cxn modelId="{F3A7AEE1-34E4-4C16-9000-BE13DF9C60FA}" type="presParOf" srcId="{0899785E-F2C8-44C1-B27C-0EB30238C656}" destId="{34DE4B05-50E6-4968-B225-90094EEE15D8}" srcOrd="2" destOrd="0" presId="urn:microsoft.com/office/officeart/2018/2/layout/IconVerticalSolidList"/>
    <dgm:cxn modelId="{4BE8E23F-5C5E-4124-B794-59B276D66397}" type="presParOf" srcId="{0899785E-F2C8-44C1-B27C-0EB30238C656}" destId="{C0CC0CF3-6BBE-466E-9EA2-45100A676064}" srcOrd="3" destOrd="0" presId="urn:microsoft.com/office/officeart/2018/2/layout/IconVerticalSolidList"/>
    <dgm:cxn modelId="{E5AD0955-D23C-484F-BE2B-3C55B44F0405}" type="presParOf" srcId="{C2330284-BD8D-4889-A967-609F0537C012}" destId="{1BD4BFFD-6BBE-4A29-9472-B900D13EA82C}" srcOrd="1" destOrd="0" presId="urn:microsoft.com/office/officeart/2018/2/layout/IconVerticalSolidList"/>
    <dgm:cxn modelId="{9E8C5CDE-67CB-4445-88B9-69364AD9CE92}" type="presParOf" srcId="{C2330284-BD8D-4889-A967-609F0537C012}" destId="{3C7ADE50-9078-4788-949D-442745ADA991}" srcOrd="2" destOrd="0" presId="urn:microsoft.com/office/officeart/2018/2/layout/IconVerticalSolidList"/>
    <dgm:cxn modelId="{ECCDD048-68E1-4854-AF7E-B8D1DAD737E0}" type="presParOf" srcId="{3C7ADE50-9078-4788-949D-442745ADA991}" destId="{7D2182C2-41BC-4562-AF85-8692A8B3D002}" srcOrd="0" destOrd="0" presId="urn:microsoft.com/office/officeart/2018/2/layout/IconVerticalSolidList"/>
    <dgm:cxn modelId="{E9A33740-E63A-456A-A452-1A4315A3678A}" type="presParOf" srcId="{3C7ADE50-9078-4788-949D-442745ADA991}" destId="{D80EC097-37F0-4EF5-A6ED-DFA39D471E44}" srcOrd="1" destOrd="0" presId="urn:microsoft.com/office/officeart/2018/2/layout/IconVerticalSolidList"/>
    <dgm:cxn modelId="{7834F9D2-D85F-40DE-984D-A0476519441C}" type="presParOf" srcId="{3C7ADE50-9078-4788-949D-442745ADA991}" destId="{EC8680A4-39C5-49E5-9726-1FF6121A2B8B}" srcOrd="2" destOrd="0" presId="urn:microsoft.com/office/officeart/2018/2/layout/IconVerticalSolidList"/>
    <dgm:cxn modelId="{9DA707BF-2AC3-43BF-8532-5996036DE13E}" type="presParOf" srcId="{3C7ADE50-9078-4788-949D-442745ADA991}" destId="{6990A00F-CECD-415F-8A6D-5663FC335B1B}" srcOrd="3" destOrd="0" presId="urn:microsoft.com/office/officeart/2018/2/layout/IconVerticalSolidList"/>
    <dgm:cxn modelId="{24567006-12BF-4F81-95AF-1AE145220C95}" type="presParOf" srcId="{C2330284-BD8D-4889-A967-609F0537C012}" destId="{FD17A74E-37A3-40F2-939A-BAA69CB58C39}" srcOrd="3" destOrd="0" presId="urn:microsoft.com/office/officeart/2018/2/layout/IconVerticalSolidList"/>
    <dgm:cxn modelId="{C67C9A77-5790-4B49-B766-643A5EADA340}" type="presParOf" srcId="{C2330284-BD8D-4889-A967-609F0537C012}" destId="{653E9806-A6DC-44EB-8EEC-EEF8B80B5C81}" srcOrd="4" destOrd="0" presId="urn:microsoft.com/office/officeart/2018/2/layout/IconVerticalSolidList"/>
    <dgm:cxn modelId="{C8D5F347-40A9-49C9-A1D5-ED1D36110ED8}" type="presParOf" srcId="{653E9806-A6DC-44EB-8EEC-EEF8B80B5C81}" destId="{A300233D-AF4B-4734-87E7-CAEE5CD7716F}" srcOrd="0" destOrd="0" presId="urn:microsoft.com/office/officeart/2018/2/layout/IconVerticalSolidList"/>
    <dgm:cxn modelId="{D5D0C4AC-8ABF-48FC-B2D6-7112AA18D48B}" type="presParOf" srcId="{653E9806-A6DC-44EB-8EEC-EEF8B80B5C81}" destId="{9A91FB51-49EC-4465-83DE-EB69E59D18B6}" srcOrd="1" destOrd="0" presId="urn:microsoft.com/office/officeart/2018/2/layout/IconVerticalSolidList"/>
    <dgm:cxn modelId="{A6B85303-78AB-4D7E-BBCB-832D93C99CC6}" type="presParOf" srcId="{653E9806-A6DC-44EB-8EEC-EEF8B80B5C81}" destId="{751355C3-5929-4386-AC81-EBEF75F61A18}" srcOrd="2" destOrd="0" presId="urn:microsoft.com/office/officeart/2018/2/layout/IconVerticalSolidList"/>
    <dgm:cxn modelId="{7E5F89B9-D5BD-4E9A-B7CF-1BEF7B9CC20B}" type="presParOf" srcId="{653E9806-A6DC-44EB-8EEC-EEF8B80B5C81}" destId="{BFB43808-6A6E-4FD5-BEAA-4A9554F04751}" srcOrd="3" destOrd="0" presId="urn:microsoft.com/office/officeart/2018/2/layout/IconVerticalSolidList"/>
    <dgm:cxn modelId="{8861C305-2387-4FBE-A61E-0A723FAE12BF}" type="presParOf" srcId="{C2330284-BD8D-4889-A967-609F0537C012}" destId="{7595907E-35EA-41AB-87DC-838B6692AD55}" srcOrd="5" destOrd="0" presId="urn:microsoft.com/office/officeart/2018/2/layout/IconVerticalSolidList"/>
    <dgm:cxn modelId="{18C456F5-8140-49FF-BA95-CA0AD47F0455}" type="presParOf" srcId="{C2330284-BD8D-4889-A967-609F0537C012}" destId="{A77C7334-5038-44EF-9F39-31C2545E5FCB}" srcOrd="6" destOrd="0" presId="urn:microsoft.com/office/officeart/2018/2/layout/IconVerticalSolidList"/>
    <dgm:cxn modelId="{885A4537-AB54-4EDC-9197-19EC544C0430}" type="presParOf" srcId="{A77C7334-5038-44EF-9F39-31C2545E5FCB}" destId="{DB8FE793-41E6-4016-9BBD-5C5B211827F5}" srcOrd="0" destOrd="0" presId="urn:microsoft.com/office/officeart/2018/2/layout/IconVerticalSolidList"/>
    <dgm:cxn modelId="{31694AC4-BD95-413B-BD82-8C727303835F}" type="presParOf" srcId="{A77C7334-5038-44EF-9F39-31C2545E5FCB}" destId="{2F6E260A-AC76-4C92-A508-825540069EE3}" srcOrd="1" destOrd="0" presId="urn:microsoft.com/office/officeart/2018/2/layout/IconVerticalSolidList"/>
    <dgm:cxn modelId="{AF9FDA29-2082-492B-9639-BFE45140ACBF}" type="presParOf" srcId="{A77C7334-5038-44EF-9F39-31C2545E5FCB}" destId="{52F084C5-B412-4EA0-89A0-17613D975625}" srcOrd="2" destOrd="0" presId="urn:microsoft.com/office/officeart/2018/2/layout/IconVerticalSolidList"/>
    <dgm:cxn modelId="{336673FD-DEC4-404C-8CC5-69A681604FF6}" type="presParOf" srcId="{A77C7334-5038-44EF-9F39-31C2545E5FCB}" destId="{C17CC139-A88C-4721-9C5A-B7F09F01D1CA}" srcOrd="3" destOrd="0" presId="urn:microsoft.com/office/officeart/2018/2/layout/IconVerticalSolidList"/>
    <dgm:cxn modelId="{2D01B66B-FE4A-4ED4-ADE7-FCC128FE7883}" type="presParOf" srcId="{C2330284-BD8D-4889-A967-609F0537C012}" destId="{5D566A9D-FC6A-4531-BBEA-B7EAE47E1DF5}" srcOrd="7" destOrd="0" presId="urn:microsoft.com/office/officeart/2018/2/layout/IconVerticalSolidList"/>
    <dgm:cxn modelId="{8694E43E-A69A-42B4-8980-25E2AB2DC595}" type="presParOf" srcId="{C2330284-BD8D-4889-A967-609F0537C012}" destId="{032FB2BC-3748-4B57-AB6E-75AB7C51C199}" srcOrd="8" destOrd="0" presId="urn:microsoft.com/office/officeart/2018/2/layout/IconVerticalSolidList"/>
    <dgm:cxn modelId="{9E4F68D6-7C5F-4C2C-BD3A-1FD7F80A2027}" type="presParOf" srcId="{032FB2BC-3748-4B57-AB6E-75AB7C51C199}" destId="{74DE5FDF-9F78-4D5F-967C-68002A00B25D}" srcOrd="0" destOrd="0" presId="urn:microsoft.com/office/officeart/2018/2/layout/IconVerticalSolidList"/>
    <dgm:cxn modelId="{5FEE37DA-6402-4DF0-BB27-6E8480666B57}" type="presParOf" srcId="{032FB2BC-3748-4B57-AB6E-75AB7C51C199}" destId="{FCC181B2-9A5C-4D9C-8349-951830A51818}" srcOrd="1" destOrd="0" presId="urn:microsoft.com/office/officeart/2018/2/layout/IconVerticalSolidList"/>
    <dgm:cxn modelId="{A9A5DA38-A978-4C10-A5C5-D2E9A2AD91D0}" type="presParOf" srcId="{032FB2BC-3748-4B57-AB6E-75AB7C51C199}" destId="{BB252DF5-7A0A-47E9-94B7-380ACFDC4852}" srcOrd="2" destOrd="0" presId="urn:microsoft.com/office/officeart/2018/2/layout/IconVerticalSolidList"/>
    <dgm:cxn modelId="{4CCB95B7-D994-446E-B3E9-362D5ABA6F6C}" type="presParOf" srcId="{032FB2BC-3748-4B57-AB6E-75AB7C51C199}" destId="{16F882C8-3248-40D8-8EF5-032D4CEBD6E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137874-BCA7-4310-9225-3EC16CC52614}">
      <dsp:nvSpPr>
        <dsp:cNvPr id="0" name=""/>
        <dsp:cNvSpPr/>
      </dsp:nvSpPr>
      <dsp:spPr>
        <a:xfrm>
          <a:off x="812684" y="508378"/>
          <a:ext cx="810000" cy="81000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01CE0C7-B064-4BC0-A7DD-E282D66B370C}">
      <dsp:nvSpPr>
        <dsp:cNvPr id="0" name=""/>
        <dsp:cNvSpPr/>
      </dsp:nvSpPr>
      <dsp:spPr>
        <a:xfrm>
          <a:off x="317684" y="1676680"/>
          <a:ext cx="1800000" cy="1219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latin typeface="Arial Nova" panose="020B0504020202020204" pitchFamily="34" charset="0"/>
            </a:rPr>
            <a:t>The system manages multiple AGVs that transport luggage and require periodic charging at limited charging stations.</a:t>
          </a:r>
        </a:p>
      </dsp:txBody>
      <dsp:txXfrm>
        <a:off x="317684" y="1676680"/>
        <a:ext cx="1800000" cy="1219218"/>
      </dsp:txXfrm>
    </dsp:sp>
    <dsp:sp modelId="{EE1DFCE6-8584-46CA-8672-4A16A3710F8A}">
      <dsp:nvSpPr>
        <dsp:cNvPr id="0" name=""/>
        <dsp:cNvSpPr/>
      </dsp:nvSpPr>
      <dsp:spPr>
        <a:xfrm>
          <a:off x="2927684" y="508378"/>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C5134D3-862E-4560-B044-E389C845AD19}">
      <dsp:nvSpPr>
        <dsp:cNvPr id="0" name=""/>
        <dsp:cNvSpPr/>
      </dsp:nvSpPr>
      <dsp:spPr>
        <a:xfrm>
          <a:off x="2432684" y="1676680"/>
          <a:ext cx="1800000" cy="1219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latin typeface="Arial Nova" panose="020B0504020202020204" pitchFamily="34" charset="0"/>
            </a:rPr>
            <a:t>It includes modules for scheduling tasks (TaskManager), managing waiting queues for charging (QueueManage), and monitoring each charging station’s status (ChargingStation).</a:t>
          </a:r>
        </a:p>
      </dsp:txBody>
      <dsp:txXfrm>
        <a:off x="2432684" y="1676680"/>
        <a:ext cx="1800000" cy="1219218"/>
      </dsp:txXfrm>
    </dsp:sp>
    <dsp:sp modelId="{3D23D928-7EB1-46F8-B601-DBE1218FECC8}">
      <dsp:nvSpPr>
        <dsp:cNvPr id="0" name=""/>
        <dsp:cNvSpPr/>
      </dsp:nvSpPr>
      <dsp:spPr>
        <a:xfrm>
          <a:off x="5042684" y="508378"/>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5D3EDF1-5F96-438C-BE4B-E490C5B1597C}">
      <dsp:nvSpPr>
        <dsp:cNvPr id="0" name=""/>
        <dsp:cNvSpPr/>
      </dsp:nvSpPr>
      <dsp:spPr>
        <a:xfrm>
          <a:off x="4547684" y="1676680"/>
          <a:ext cx="1800000" cy="1219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latin typeface="Arial Nova" panose="020B0504020202020204" pitchFamily="34" charset="0"/>
            </a:rPr>
            <a:t>Robust error handling is provided through custom exceptions like StationBusyException, ensuring AGVs don’t try to use a busy charger.</a:t>
          </a:r>
        </a:p>
      </dsp:txBody>
      <dsp:txXfrm>
        <a:off x="4547684" y="1676680"/>
        <a:ext cx="1800000" cy="1219218"/>
      </dsp:txXfrm>
    </dsp:sp>
    <dsp:sp modelId="{F1ACC2AE-1FC4-42C3-BAEC-2A370C408571}">
      <dsp:nvSpPr>
        <dsp:cNvPr id="0" name=""/>
        <dsp:cNvSpPr/>
      </dsp:nvSpPr>
      <dsp:spPr>
        <a:xfrm>
          <a:off x="7157685" y="508378"/>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4EAF3B0-F888-4FF6-AF68-F5BD56155DC2}">
      <dsp:nvSpPr>
        <dsp:cNvPr id="0" name=""/>
        <dsp:cNvSpPr/>
      </dsp:nvSpPr>
      <dsp:spPr>
        <a:xfrm>
          <a:off x="6662684" y="1676680"/>
          <a:ext cx="1800000" cy="1219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latin typeface="Arial Nova" panose="020B0504020202020204" pitchFamily="34" charset="0"/>
            </a:rPr>
            <a:t>The project emphasizes concurrency, as AGV tasks and queueing run in parallel threads to simulate real-world, simultaneous operations.</a:t>
          </a:r>
        </a:p>
      </dsp:txBody>
      <dsp:txXfrm>
        <a:off x="6662684" y="1676680"/>
        <a:ext cx="1800000" cy="1219218"/>
      </dsp:txXfrm>
    </dsp:sp>
    <dsp:sp modelId="{C37A5650-959F-42B7-80D5-055EB8FF5B94}">
      <dsp:nvSpPr>
        <dsp:cNvPr id="0" name=""/>
        <dsp:cNvSpPr/>
      </dsp:nvSpPr>
      <dsp:spPr>
        <a:xfrm>
          <a:off x="9272684" y="508378"/>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4FA6AD4-E895-476E-92A4-60FF26155CF8}">
      <dsp:nvSpPr>
        <dsp:cNvPr id="0" name=""/>
        <dsp:cNvSpPr/>
      </dsp:nvSpPr>
      <dsp:spPr>
        <a:xfrm>
          <a:off x="8777685" y="1676680"/>
          <a:ext cx="1800000" cy="1219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latin typeface="Arial Nova" panose="020B0504020202020204" pitchFamily="34" charset="0"/>
            </a:rPr>
            <a:t>We use automated unit tests to verify that core features, such as task assignment and queue management, behave correctly under various scenarios.</a:t>
          </a:r>
        </a:p>
      </dsp:txBody>
      <dsp:txXfrm>
        <a:off x="8777685" y="1676680"/>
        <a:ext cx="1800000" cy="12192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3D0D86-5523-42FF-9E39-787A9F621A19}">
      <dsp:nvSpPr>
        <dsp:cNvPr id="0" name=""/>
        <dsp:cNvSpPr/>
      </dsp:nvSpPr>
      <dsp:spPr>
        <a:xfrm>
          <a:off x="0" y="3571"/>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6B7E35-12F1-4C9B-985E-C2EB5B90DDEE}">
      <dsp:nvSpPr>
        <dsp:cNvPr id="0" name=""/>
        <dsp:cNvSpPr/>
      </dsp:nvSpPr>
      <dsp:spPr>
        <a:xfrm>
          <a:off x="230144" y="174753"/>
          <a:ext cx="418445" cy="4184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0CC0CF3-6BBE-466E-9EA2-45100A676064}">
      <dsp:nvSpPr>
        <dsp:cNvPr id="0" name=""/>
        <dsp:cNvSpPr/>
      </dsp:nvSpPr>
      <dsp:spPr>
        <a:xfrm>
          <a:off x="878734" y="3571"/>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622300">
            <a:lnSpc>
              <a:spcPct val="90000"/>
            </a:lnSpc>
            <a:spcBef>
              <a:spcPct val="0"/>
            </a:spcBef>
            <a:spcAft>
              <a:spcPct val="35000"/>
            </a:spcAft>
            <a:buNone/>
          </a:pPr>
          <a:r>
            <a:rPr lang="en-US" sz="1400" kern="1200"/>
            <a:t>Successfully developed a modular and concurrent system simulating airport luggage handling with AGVs and charging stations.</a:t>
          </a:r>
        </a:p>
      </dsp:txBody>
      <dsp:txXfrm>
        <a:off x="878734" y="3571"/>
        <a:ext cx="5617315" cy="760809"/>
      </dsp:txXfrm>
    </dsp:sp>
    <dsp:sp modelId="{7D2182C2-41BC-4562-AF85-8692A8B3D002}">
      <dsp:nvSpPr>
        <dsp:cNvPr id="0" name=""/>
        <dsp:cNvSpPr/>
      </dsp:nvSpPr>
      <dsp:spPr>
        <a:xfrm>
          <a:off x="0" y="954583"/>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0EC097-37F0-4EF5-A6ED-DFA39D471E44}">
      <dsp:nvSpPr>
        <dsp:cNvPr id="0" name=""/>
        <dsp:cNvSpPr/>
      </dsp:nvSpPr>
      <dsp:spPr>
        <a:xfrm>
          <a:off x="230144" y="1125765"/>
          <a:ext cx="418445" cy="4184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990A00F-CECD-415F-8A6D-5663FC335B1B}">
      <dsp:nvSpPr>
        <dsp:cNvPr id="0" name=""/>
        <dsp:cNvSpPr/>
      </dsp:nvSpPr>
      <dsp:spPr>
        <a:xfrm>
          <a:off x="878734" y="954583"/>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622300">
            <a:lnSpc>
              <a:spcPct val="90000"/>
            </a:lnSpc>
            <a:spcBef>
              <a:spcPct val="0"/>
            </a:spcBef>
            <a:spcAft>
              <a:spcPct val="35000"/>
            </a:spcAft>
            <a:buNone/>
          </a:pPr>
          <a:r>
            <a:rPr lang="en-US" sz="1400" kern="1200"/>
            <a:t>Designed clear coordination between task management, queue handling, and charging station availability to ensure efficient operation.</a:t>
          </a:r>
        </a:p>
      </dsp:txBody>
      <dsp:txXfrm>
        <a:off x="878734" y="954583"/>
        <a:ext cx="5617315" cy="760809"/>
      </dsp:txXfrm>
    </dsp:sp>
    <dsp:sp modelId="{A300233D-AF4B-4734-87E7-CAEE5CD7716F}">
      <dsp:nvSpPr>
        <dsp:cNvPr id="0" name=""/>
        <dsp:cNvSpPr/>
      </dsp:nvSpPr>
      <dsp:spPr>
        <a:xfrm>
          <a:off x="0" y="1905595"/>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91FB51-49EC-4465-83DE-EB69E59D18B6}">
      <dsp:nvSpPr>
        <dsp:cNvPr id="0" name=""/>
        <dsp:cNvSpPr/>
      </dsp:nvSpPr>
      <dsp:spPr>
        <a:xfrm>
          <a:off x="230144" y="2076777"/>
          <a:ext cx="418445" cy="4184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FB43808-6A6E-4FD5-BEAA-4A9554F04751}">
      <dsp:nvSpPr>
        <dsp:cNvPr id="0" name=""/>
        <dsp:cNvSpPr/>
      </dsp:nvSpPr>
      <dsp:spPr>
        <a:xfrm>
          <a:off x="878734" y="1905595"/>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622300">
            <a:lnSpc>
              <a:spcPct val="90000"/>
            </a:lnSpc>
            <a:spcBef>
              <a:spcPct val="0"/>
            </a:spcBef>
            <a:spcAft>
              <a:spcPct val="35000"/>
            </a:spcAft>
            <a:buNone/>
          </a:pPr>
          <a:r>
            <a:rPr lang="en-US" sz="1400" kern="1200"/>
            <a:t>Employed custom exception handling to robustly manage error scenarios like busy charging stations.</a:t>
          </a:r>
        </a:p>
      </dsp:txBody>
      <dsp:txXfrm>
        <a:off x="878734" y="1905595"/>
        <a:ext cx="5617315" cy="760809"/>
      </dsp:txXfrm>
    </dsp:sp>
    <dsp:sp modelId="{DB8FE793-41E6-4016-9BBD-5C5B211827F5}">
      <dsp:nvSpPr>
        <dsp:cNvPr id="0" name=""/>
        <dsp:cNvSpPr/>
      </dsp:nvSpPr>
      <dsp:spPr>
        <a:xfrm>
          <a:off x="0" y="2856607"/>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6E260A-AC76-4C92-A508-825540069EE3}">
      <dsp:nvSpPr>
        <dsp:cNvPr id="0" name=""/>
        <dsp:cNvSpPr/>
      </dsp:nvSpPr>
      <dsp:spPr>
        <a:xfrm>
          <a:off x="230144" y="3027789"/>
          <a:ext cx="418445" cy="4184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17CC139-A88C-4721-9C5A-B7F09F01D1CA}">
      <dsp:nvSpPr>
        <dsp:cNvPr id="0" name=""/>
        <dsp:cNvSpPr/>
      </dsp:nvSpPr>
      <dsp:spPr>
        <a:xfrm>
          <a:off x="878734" y="2856607"/>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622300">
            <a:lnSpc>
              <a:spcPct val="90000"/>
            </a:lnSpc>
            <a:spcBef>
              <a:spcPct val="0"/>
            </a:spcBef>
            <a:spcAft>
              <a:spcPct val="35000"/>
            </a:spcAft>
            <a:buNone/>
          </a:pPr>
          <a:r>
            <a:rPr lang="en-US" sz="1400" kern="1200"/>
            <a:t>Implemented multi-threading to mimic real-world parallel AGV operations and prevent resource conflicts.</a:t>
          </a:r>
        </a:p>
      </dsp:txBody>
      <dsp:txXfrm>
        <a:off x="878734" y="2856607"/>
        <a:ext cx="5617315" cy="760809"/>
      </dsp:txXfrm>
    </dsp:sp>
    <dsp:sp modelId="{74DE5FDF-9F78-4D5F-967C-68002A00B25D}">
      <dsp:nvSpPr>
        <dsp:cNvPr id="0" name=""/>
        <dsp:cNvSpPr/>
      </dsp:nvSpPr>
      <dsp:spPr>
        <a:xfrm>
          <a:off x="0" y="3807618"/>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C181B2-9A5C-4D9C-8349-951830A51818}">
      <dsp:nvSpPr>
        <dsp:cNvPr id="0" name=""/>
        <dsp:cNvSpPr/>
      </dsp:nvSpPr>
      <dsp:spPr>
        <a:xfrm>
          <a:off x="230144" y="3978800"/>
          <a:ext cx="418445" cy="41844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6F882C8-3248-40D8-8EF5-032D4CEBD6E3}">
      <dsp:nvSpPr>
        <dsp:cNvPr id="0" name=""/>
        <dsp:cNvSpPr/>
      </dsp:nvSpPr>
      <dsp:spPr>
        <a:xfrm>
          <a:off x="878734" y="3807618"/>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622300">
            <a:lnSpc>
              <a:spcPct val="90000"/>
            </a:lnSpc>
            <a:spcBef>
              <a:spcPct val="0"/>
            </a:spcBef>
            <a:spcAft>
              <a:spcPct val="35000"/>
            </a:spcAft>
            <a:buNone/>
          </a:pPr>
          <a:r>
            <a:rPr lang="en-US" sz="1400" kern="1200"/>
            <a:t>Validated system behavior with comprehensive unit tests to ensure reliability and correctness under different scenarios.</a:t>
          </a:r>
        </a:p>
      </dsp:txBody>
      <dsp:txXfrm>
        <a:off x="878734" y="3807618"/>
        <a:ext cx="5617315" cy="760809"/>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28FA71-3A18-48C0-980F-4B68F7F63042}" type="datetime1">
              <a:rPr lang="en-US" smtClean="0"/>
              <a:t>11/14/2025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06268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1C1210E-201E-4473-82AC-2466F5386C38}" type="datetime1">
              <a:rPr lang="en-US" smtClean="0"/>
              <a:t>11/14/2025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67385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EA198-6CAB-4B8F-B93F-1F9C8C4B6CE7}" type="datetime1">
              <a:rPr lang="en-US" smtClean="0"/>
              <a:t>11/14/2025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4571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06041F-4525-44D5-AA4F-332294BF1F56}" type="datetime1">
              <a:rPr lang="en-US" smtClean="0"/>
              <a:t>11/14/2025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09492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557091-BBDF-4EB9-BA6B-2BB67AC4FC0F}" type="datetime1">
              <a:rPr lang="en-US" smtClean="0"/>
              <a:t>11/14/2025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73820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D6B226B-77A6-410C-9796-083F278E0125}" type="datetime1">
              <a:rPr lang="en-US" smtClean="0"/>
              <a:t>11/14/2025</a:t>
            </a:fld>
            <a:endParaRPr lang="en-US"/>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27877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23A578B-D289-4C40-8593-3D356C49DA58}" type="datetime1">
              <a:rPr lang="en-US" smtClean="0"/>
              <a:t>11/14/2025</a:t>
            </a:fld>
            <a:endParaRPr lang="en-US"/>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7213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13DFAE3-14DB-48A7-A80F-80DDB072CE3D}" type="datetime1">
              <a:rPr lang="en-US" smtClean="0"/>
              <a:t>11/14/2025</a:t>
            </a:fld>
            <a:endParaRPr lang="en-US"/>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01684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C5EAEF-6478-4102-8F5D-A5FE9FC97ACB}" type="datetime1">
              <a:rPr lang="en-US" smtClean="0"/>
              <a:t>11/14/2025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93685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F45AC6-C491-4585-A584-9CE2AF7D5500}" type="datetime1">
              <a:rPr lang="en-US" smtClean="0"/>
              <a:t>11/14/2025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559292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11/14/2025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3888826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11/14/2025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2518979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11/14/2025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6947298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7F45AC6-C491-4585-A584-9CE2AF7D5500}" type="datetime1">
              <a:rPr lang="en-US" smtClean="0"/>
              <a:t>11/14/2025</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6830323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7F45AC6-C491-4585-A584-9CE2AF7D5500}" type="datetime1">
              <a:rPr lang="en-US" smtClean="0"/>
              <a:t>11/14/2025</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9557094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04EDB3-C0E8-45F8-9E1D-1B6C8D1880C0}" type="datetime1">
              <a:rPr lang="en-US" smtClean="0"/>
              <a:t>11/14/2025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841526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F0EC4B-54ED-4041-B552-9BA760FA3DBA}" type="datetime1">
              <a:rPr lang="en-US" smtClean="0"/>
              <a:t>11/14/2025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0694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001"/>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001"/>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7F45AC6-C491-4585-A584-9CE2AF7D5500}" type="datetime1">
              <a:rPr lang="en-US" smtClean="0"/>
              <a:t>11/14/2025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43909072"/>
      </p:ext>
    </p:extLst>
  </p:cSld>
  <p:clrMap bg1="dk1" tx1="lt1" bg2="dk2" tx2="lt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Packages on conveyor belt">
            <a:extLst>
              <a:ext uri="{FF2B5EF4-FFF2-40B4-BE49-F238E27FC236}">
                <a16:creationId xmlns:a16="http://schemas.microsoft.com/office/drawing/2014/main" id="{43B6A48E-C0D1-E36A-C07F-7148DA5402EE}"/>
              </a:ext>
            </a:extLst>
          </p:cNvPr>
          <p:cNvPicPr>
            <a:picLocks noChangeAspect="1"/>
          </p:cNvPicPr>
          <p:nvPr/>
        </p:nvPicPr>
        <p:blipFill>
          <a:blip r:embed="rId2"/>
          <a:srcRect t="15730"/>
          <a:stretch>
            <a:fillRect/>
          </a:stretch>
        </p:blipFill>
        <p:spPr>
          <a:xfrm>
            <a:off x="20" y="-1"/>
            <a:ext cx="12191980" cy="6858001"/>
          </a:xfrm>
          <a:prstGeom prst="rect">
            <a:avLst/>
          </a:prstGeom>
        </p:spPr>
      </p:pic>
      <p:sp>
        <p:nvSpPr>
          <p:cNvPr id="5" name="TextBox 4">
            <a:extLst>
              <a:ext uri="{FF2B5EF4-FFF2-40B4-BE49-F238E27FC236}">
                <a16:creationId xmlns:a16="http://schemas.microsoft.com/office/drawing/2014/main" id="{412C2E71-00B2-88D5-94A8-B72F76CB148F}"/>
              </a:ext>
            </a:extLst>
          </p:cNvPr>
          <p:cNvSpPr txBox="1"/>
          <p:nvPr/>
        </p:nvSpPr>
        <p:spPr>
          <a:xfrm>
            <a:off x="624506" y="3991500"/>
            <a:ext cx="8837546" cy="1870483"/>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5100" b="1" dirty="0">
                <a:solidFill>
                  <a:srgbClr val="FFFFFF"/>
                </a:solidFill>
                <a:highlight>
                  <a:srgbClr val="00FF00"/>
                </a:highlight>
                <a:latin typeface="Arial Nova" panose="020B0504020202020204" pitchFamily="34" charset="0"/>
                <a:ea typeface="+mj-ea"/>
                <a:cs typeface="+mj-cs"/>
              </a:rPr>
              <a:t>Automated Airport Baggage Handling System</a:t>
            </a:r>
          </a:p>
        </p:txBody>
      </p:sp>
    </p:spTree>
    <p:extLst>
      <p:ext uri="{BB962C8B-B14F-4D97-AF65-F5344CB8AC3E}">
        <p14:creationId xmlns:p14="http://schemas.microsoft.com/office/powerpoint/2010/main" val="121055112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0BC3AD-2CE1-EC8B-1EAF-FFF53BE5404D}"/>
              </a:ext>
            </a:extLst>
          </p:cNvPr>
          <p:cNvSpPr txBox="1"/>
          <p:nvPr/>
        </p:nvSpPr>
        <p:spPr>
          <a:xfrm>
            <a:off x="1230085" y="3105834"/>
            <a:ext cx="5638800" cy="646331"/>
          </a:xfrm>
          <a:prstGeom prst="rect">
            <a:avLst/>
          </a:prstGeom>
          <a:noFill/>
        </p:spPr>
        <p:txBody>
          <a:bodyPr wrap="square" rtlCol="0">
            <a:spAutoFit/>
          </a:bodyPr>
          <a:lstStyle/>
          <a:p>
            <a:r>
              <a:rPr lang="en-US" dirty="0">
                <a:latin typeface="Arial Nova" panose="020B0504020202020204" pitchFamily="34" charset="0"/>
              </a:rPr>
              <a:t>Team Members and respective roles:</a:t>
            </a:r>
            <a:br>
              <a:rPr lang="en-US" dirty="0">
                <a:latin typeface="Arial Nova" panose="020B0504020202020204" pitchFamily="34" charset="0"/>
              </a:rPr>
            </a:br>
            <a:endParaRPr lang="en-001" dirty="0">
              <a:latin typeface="Arial Nova" panose="020B0504020202020204" pitchFamily="34" charset="0"/>
            </a:endParaRPr>
          </a:p>
        </p:txBody>
      </p:sp>
    </p:spTree>
    <p:extLst>
      <p:ext uri="{BB962C8B-B14F-4D97-AF65-F5344CB8AC3E}">
        <p14:creationId xmlns:p14="http://schemas.microsoft.com/office/powerpoint/2010/main" val="1173457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CA3FC0-FBEC-CC3E-2907-33F53C0E88BC}"/>
              </a:ext>
            </a:extLst>
          </p:cNvPr>
          <p:cNvPicPr>
            <a:picLocks noChangeAspect="1"/>
          </p:cNvPicPr>
          <p:nvPr/>
        </p:nvPicPr>
        <p:blipFill>
          <a:blip r:embed="rId3"/>
          <a:srcRect l="9053" r="21868" b="-1"/>
          <a:stretch>
            <a:fillRect/>
          </a:stretch>
        </p:blipFill>
        <p:spPr>
          <a:xfrm>
            <a:off x="4619544" y="609601"/>
            <a:ext cx="6924756" cy="5638797"/>
          </a:xfrm>
          <a:prstGeom prst="rect">
            <a:avLst/>
          </a:prstGeom>
          <a:effectLst>
            <a:outerShdw blurRad="50800" dist="38100" dir="5400000" algn="t" rotWithShape="0">
              <a:prstClr val="black">
                <a:alpha val="43000"/>
              </a:prstClr>
            </a:outerShdw>
          </a:effectLst>
        </p:spPr>
      </p:pic>
      <p:sp>
        <p:nvSpPr>
          <p:cNvPr id="2" name="TextBox 1">
            <a:extLst>
              <a:ext uri="{FF2B5EF4-FFF2-40B4-BE49-F238E27FC236}">
                <a16:creationId xmlns:a16="http://schemas.microsoft.com/office/drawing/2014/main" id="{DD9BFE43-16B4-E32E-0423-B352286433A0}"/>
              </a:ext>
            </a:extLst>
          </p:cNvPr>
          <p:cNvSpPr txBox="1"/>
          <p:nvPr/>
        </p:nvSpPr>
        <p:spPr>
          <a:xfrm>
            <a:off x="770815" y="1524000"/>
            <a:ext cx="3324141" cy="3809998"/>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a:latin typeface="Arial Nova" panose="020B0504020202020204" pitchFamily="34" charset="0"/>
                <a:ea typeface="+mj-ea"/>
                <a:cs typeface="+mj-cs"/>
              </a:rPr>
              <a:t>Our project simulates an automated airport luggage management system using autonomous guided vehicles (AGVs). The software coordinates the movement, queuing, and smart charging of AGVs to efficiently handle baggage processing in a busy airport environment.</a:t>
            </a:r>
          </a:p>
        </p:txBody>
      </p:sp>
    </p:spTree>
    <p:extLst>
      <p:ext uri="{BB962C8B-B14F-4D97-AF65-F5344CB8AC3E}">
        <p14:creationId xmlns:p14="http://schemas.microsoft.com/office/powerpoint/2010/main" val="1580906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TextBox 1">
            <a:extLst>
              <a:ext uri="{FF2B5EF4-FFF2-40B4-BE49-F238E27FC236}">
                <a16:creationId xmlns:a16="http://schemas.microsoft.com/office/drawing/2014/main" id="{1DC63D6A-E0AC-C590-2884-2B275B574056}"/>
              </a:ext>
            </a:extLst>
          </p:cNvPr>
          <p:cNvGraphicFramePr/>
          <p:nvPr>
            <p:extLst>
              <p:ext uri="{D42A27DB-BD31-4B8C-83A1-F6EECF244321}">
                <p14:modId xmlns:p14="http://schemas.microsoft.com/office/powerpoint/2010/main" val="1177455269"/>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AE92F833-2FCB-FE45-D7B3-009D3E8A7A3A}"/>
              </a:ext>
            </a:extLst>
          </p:cNvPr>
          <p:cNvSpPr txBox="1"/>
          <p:nvPr/>
        </p:nvSpPr>
        <p:spPr>
          <a:xfrm>
            <a:off x="4027714" y="1088571"/>
            <a:ext cx="4136571" cy="461665"/>
          </a:xfrm>
          <a:prstGeom prst="rect">
            <a:avLst/>
          </a:prstGeom>
          <a:noFill/>
        </p:spPr>
        <p:txBody>
          <a:bodyPr wrap="square" rtlCol="0">
            <a:spAutoFit/>
          </a:bodyPr>
          <a:lstStyle/>
          <a:p>
            <a:pPr algn="ctr"/>
            <a:r>
              <a:rPr lang="en-US" sz="2400" b="1" dirty="0">
                <a:latin typeface="Arial Nova" panose="020B0504020202020204" pitchFamily="34" charset="0"/>
              </a:rPr>
              <a:t>Domain Description</a:t>
            </a:r>
            <a:endParaRPr lang="en-001" sz="2400" b="1" dirty="0">
              <a:latin typeface="Arial Nova" panose="020B0504020202020204" pitchFamily="34" charset="0"/>
            </a:endParaRPr>
          </a:p>
        </p:txBody>
      </p:sp>
    </p:spTree>
    <p:extLst>
      <p:ext uri="{BB962C8B-B14F-4D97-AF65-F5344CB8AC3E}">
        <p14:creationId xmlns:p14="http://schemas.microsoft.com/office/powerpoint/2010/main" val="63741584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F01EDF7D-CE91-A8D1-AA0B-0C7D878C0209}"/>
              </a:ext>
            </a:extLst>
          </p:cNvPr>
          <p:cNvSpPr txBox="1"/>
          <p:nvPr/>
        </p:nvSpPr>
        <p:spPr>
          <a:xfrm>
            <a:off x="4975861" y="804671"/>
            <a:ext cx="6399930" cy="5248657"/>
          </a:xfrm>
          <a:prstGeom prst="rect">
            <a:avLst/>
          </a:prstGeom>
        </p:spPr>
        <p:txBody>
          <a:bodyPr vert="horz" lIns="91440" tIns="45720" rIns="91440" bIns="45720" rtlCol="0" anchor="ctr">
            <a:normAutofit/>
          </a:bodyPr>
          <a:lstStyle/>
          <a:p>
            <a:pPr marL="342900" indent="-342900">
              <a:spcBef>
                <a:spcPts val="1000"/>
              </a:spcBef>
              <a:buClr>
                <a:schemeClr val="bg2">
                  <a:lumMod val="40000"/>
                  <a:lumOff val="60000"/>
                </a:schemeClr>
              </a:buClr>
              <a:buSzPct val="80000"/>
              <a:buFont typeface="Wingdings 3" charset="2"/>
              <a:buChar char=""/>
            </a:pPr>
            <a:r>
              <a:rPr lang="en-US">
                <a:latin typeface="Arial Nova" panose="020B0504020202020204" pitchFamily="34" charset="0"/>
                <a:ea typeface="+mj-ea"/>
                <a:cs typeface="+mj-cs"/>
              </a:rPr>
              <a:t>The system must manage multiple autonomous guided vehicles (AGVs) and coordinate their charging at limited charging stations.</a:t>
            </a:r>
          </a:p>
          <a:p>
            <a:pPr marL="342900" indent="-342900">
              <a:spcBef>
                <a:spcPts val="1000"/>
              </a:spcBef>
              <a:buClr>
                <a:schemeClr val="bg2">
                  <a:lumMod val="40000"/>
                  <a:lumOff val="60000"/>
                </a:schemeClr>
              </a:buClr>
              <a:buSzPct val="80000"/>
              <a:buFont typeface="Wingdings 3" charset="2"/>
              <a:buChar char=""/>
            </a:pPr>
            <a:r>
              <a:rPr lang="en-US">
                <a:latin typeface="Arial Nova" panose="020B0504020202020204" pitchFamily="34" charset="0"/>
                <a:ea typeface="+mj-ea"/>
                <a:cs typeface="+mj-cs"/>
              </a:rPr>
              <a:t>It should assign tasks, maintain an ordered queue for charging requests, and monitor the status of each station.</a:t>
            </a:r>
          </a:p>
          <a:p>
            <a:pPr marL="342900" indent="-342900">
              <a:spcBef>
                <a:spcPts val="1000"/>
              </a:spcBef>
              <a:buClr>
                <a:schemeClr val="bg2">
                  <a:lumMod val="40000"/>
                  <a:lumOff val="60000"/>
                </a:schemeClr>
              </a:buClr>
              <a:buSzPct val="80000"/>
              <a:buFont typeface="Wingdings 3" charset="2"/>
              <a:buChar char=""/>
            </a:pPr>
            <a:r>
              <a:rPr lang="en-US">
                <a:latin typeface="Arial Nova" panose="020B0504020202020204" pitchFamily="34" charset="0"/>
                <a:ea typeface="+mj-ea"/>
                <a:cs typeface="+mj-cs"/>
              </a:rPr>
              <a:t>The solution must support parallel (threaded) operation to simulate real-world scenario where AGVs operate concurrently.</a:t>
            </a:r>
          </a:p>
          <a:p>
            <a:pPr marL="342900" indent="-342900">
              <a:spcBef>
                <a:spcPts val="1000"/>
              </a:spcBef>
              <a:buClr>
                <a:schemeClr val="bg2">
                  <a:lumMod val="40000"/>
                  <a:lumOff val="60000"/>
                </a:schemeClr>
              </a:buClr>
              <a:buSzPct val="80000"/>
              <a:buFont typeface="Wingdings 3" charset="2"/>
              <a:buChar char=""/>
            </a:pPr>
            <a:r>
              <a:rPr lang="en-US">
                <a:latin typeface="Arial Nova" panose="020B0504020202020204" pitchFamily="34" charset="0"/>
                <a:ea typeface="+mj-ea"/>
                <a:cs typeface="+mj-cs"/>
              </a:rPr>
              <a:t>Robust error handling is required to prevent two AGVs from charging at the same station simultaneously.</a:t>
            </a:r>
          </a:p>
          <a:p>
            <a:pPr marL="342900" indent="-342900">
              <a:spcBef>
                <a:spcPts val="1000"/>
              </a:spcBef>
              <a:buClr>
                <a:schemeClr val="bg2">
                  <a:lumMod val="40000"/>
                  <a:lumOff val="60000"/>
                </a:schemeClr>
              </a:buClr>
              <a:buSzPct val="80000"/>
              <a:buFont typeface="Wingdings 3" charset="2"/>
              <a:buChar char=""/>
            </a:pPr>
            <a:r>
              <a:rPr lang="en-US">
                <a:latin typeface="Arial Nova" panose="020B0504020202020204" pitchFamily="34" charset="0"/>
                <a:ea typeface="+mj-ea"/>
                <a:cs typeface="+mj-cs"/>
              </a:rPr>
              <a:t>Automated unit tests should be used to verify correct behavior for task management and queue operations.</a:t>
            </a:r>
          </a:p>
          <a:p>
            <a:pPr marL="342900" indent="-342900">
              <a:spcBef>
                <a:spcPts val="1000"/>
              </a:spcBef>
              <a:buClr>
                <a:schemeClr val="bg2">
                  <a:lumMod val="40000"/>
                  <a:lumOff val="60000"/>
                </a:schemeClr>
              </a:buClr>
              <a:buSzPct val="80000"/>
              <a:buFont typeface="Wingdings 3" charset="2"/>
              <a:buChar char=""/>
            </a:pPr>
            <a:endParaRPr lang="en-US">
              <a:latin typeface="Arial Nova" panose="020B0504020202020204" pitchFamily="34" charset="0"/>
              <a:ea typeface="+mj-ea"/>
              <a:cs typeface="+mj-cs"/>
            </a:endParaRPr>
          </a:p>
        </p:txBody>
      </p:sp>
      <p:sp>
        <p:nvSpPr>
          <p:cNvPr id="3" name="TextBox 2">
            <a:extLst>
              <a:ext uri="{FF2B5EF4-FFF2-40B4-BE49-F238E27FC236}">
                <a16:creationId xmlns:a16="http://schemas.microsoft.com/office/drawing/2014/main" id="{71A292DE-48E1-279F-6D57-56EE0578F38B}"/>
              </a:ext>
            </a:extLst>
          </p:cNvPr>
          <p:cNvSpPr txBox="1"/>
          <p:nvPr/>
        </p:nvSpPr>
        <p:spPr>
          <a:xfrm>
            <a:off x="1012369" y="2951152"/>
            <a:ext cx="3050953" cy="954107"/>
          </a:xfrm>
          <a:prstGeom prst="rect">
            <a:avLst/>
          </a:prstGeom>
          <a:noFill/>
        </p:spPr>
        <p:txBody>
          <a:bodyPr wrap="square" rtlCol="0">
            <a:spAutoFit/>
          </a:bodyPr>
          <a:lstStyle/>
          <a:p>
            <a:r>
              <a:rPr lang="en-US" sz="2800" b="1" dirty="0">
                <a:latin typeface="Arial Nova" panose="020B0504020202020204" pitchFamily="34" charset="0"/>
              </a:rPr>
              <a:t>System Requirements</a:t>
            </a:r>
            <a:endParaRPr lang="en-001" sz="2800" b="1" dirty="0">
              <a:latin typeface="Arial Nova" panose="020B0504020202020204" pitchFamily="34" charset="0"/>
            </a:endParaRPr>
          </a:p>
        </p:txBody>
      </p:sp>
    </p:spTree>
    <p:extLst>
      <p:ext uri="{BB962C8B-B14F-4D97-AF65-F5344CB8AC3E}">
        <p14:creationId xmlns:p14="http://schemas.microsoft.com/office/powerpoint/2010/main" val="2464315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7A7620-1509-8F25-8B83-746B5D6E952B}"/>
              </a:ext>
            </a:extLst>
          </p:cNvPr>
          <p:cNvSpPr txBox="1"/>
          <p:nvPr/>
        </p:nvSpPr>
        <p:spPr>
          <a:xfrm>
            <a:off x="3608614" y="3244334"/>
            <a:ext cx="4974771" cy="461665"/>
          </a:xfrm>
          <a:prstGeom prst="rect">
            <a:avLst/>
          </a:prstGeom>
          <a:noFill/>
        </p:spPr>
        <p:txBody>
          <a:bodyPr wrap="square" rtlCol="0">
            <a:spAutoFit/>
          </a:bodyPr>
          <a:lstStyle/>
          <a:p>
            <a:pPr algn="ctr"/>
            <a:r>
              <a:rPr lang="en-US" sz="2400" b="1" dirty="0">
                <a:latin typeface="Arial Nova" panose="020B0504020202020204" pitchFamily="34" charset="0"/>
              </a:rPr>
              <a:t>Class Diagram</a:t>
            </a:r>
            <a:endParaRPr lang="en-001" sz="2400" b="1" dirty="0">
              <a:latin typeface="Arial Nova" panose="020B0504020202020204" pitchFamily="34" charset="0"/>
            </a:endParaRPr>
          </a:p>
        </p:txBody>
      </p:sp>
    </p:spTree>
    <p:extLst>
      <p:ext uri="{BB962C8B-B14F-4D97-AF65-F5344CB8AC3E}">
        <p14:creationId xmlns:p14="http://schemas.microsoft.com/office/powerpoint/2010/main" val="3878247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4A40443-AD8E-77EF-3E53-BD91F2C752D6}"/>
              </a:ext>
            </a:extLst>
          </p:cNvPr>
          <p:cNvGraphicFramePr>
            <a:graphicFrameLocks noGrp="1"/>
          </p:cNvGraphicFramePr>
          <p:nvPr>
            <p:extLst>
              <p:ext uri="{D42A27DB-BD31-4B8C-83A1-F6EECF244321}">
                <p14:modId xmlns:p14="http://schemas.microsoft.com/office/powerpoint/2010/main" val="3327950692"/>
              </p:ext>
            </p:extLst>
          </p:nvPr>
        </p:nvGraphicFramePr>
        <p:xfrm>
          <a:off x="1741713" y="1850571"/>
          <a:ext cx="8708574" cy="3156857"/>
        </p:xfrm>
        <a:graphic>
          <a:graphicData uri="http://schemas.openxmlformats.org/drawingml/2006/table">
            <a:tbl>
              <a:tblPr firstRow="1" bandRow="1"/>
              <a:tblGrid>
                <a:gridCol w="4369737">
                  <a:extLst>
                    <a:ext uri="{9D8B030D-6E8A-4147-A177-3AD203B41FA5}">
                      <a16:colId xmlns:a16="http://schemas.microsoft.com/office/drawing/2014/main" val="2244427602"/>
                    </a:ext>
                  </a:extLst>
                </a:gridCol>
                <a:gridCol w="4338837">
                  <a:extLst>
                    <a:ext uri="{9D8B030D-6E8A-4147-A177-3AD203B41FA5}">
                      <a16:colId xmlns:a16="http://schemas.microsoft.com/office/drawing/2014/main" val="1250257979"/>
                    </a:ext>
                  </a:extLst>
                </a:gridCol>
              </a:tblGrid>
              <a:tr h="494347">
                <a:tc>
                  <a:txBody>
                    <a:bodyPr/>
                    <a:lstStyle/>
                    <a:p>
                      <a:pPr algn="l">
                        <a:buNone/>
                      </a:pPr>
                      <a:r>
                        <a:rPr lang="en-US" sz="2000" b="1">
                          <a:solidFill>
                            <a:srgbClr val="000000"/>
                          </a:solidFill>
                          <a:effectLst/>
                        </a:rPr>
                        <a:t>Input</a:t>
                      </a:r>
                    </a:p>
                  </a:txBody>
                  <a:tcPr marL="93133" marR="93133" marT="93133" marB="9313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US" sz="2000" b="1" dirty="0">
                          <a:solidFill>
                            <a:srgbClr val="000000"/>
                          </a:solidFill>
                          <a:effectLst/>
                        </a:rPr>
                        <a:t>Output</a:t>
                      </a:r>
                    </a:p>
                  </a:txBody>
                  <a:tcPr marL="93133" marR="93133" marT="93133" marB="9313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4256984771"/>
                  </a:ext>
                </a:extLst>
              </a:tr>
              <a:tr h="494347">
                <a:tc>
                  <a:txBody>
                    <a:bodyPr/>
                    <a:lstStyle/>
                    <a:p>
                      <a:pPr algn="l">
                        <a:buNone/>
                      </a:pPr>
                      <a:r>
                        <a:rPr lang="en-US" sz="2000">
                          <a:effectLst/>
                        </a:rPr>
                        <a:t>AGV charging requests</a:t>
                      </a:r>
                    </a:p>
                  </a:txBody>
                  <a:tcPr marL="93133" marR="93133" marT="93133" marB="9313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2000">
                          <a:effectLst/>
                        </a:rPr>
                        <a:t>Charging status logs</a:t>
                      </a:r>
                    </a:p>
                  </a:txBody>
                  <a:tcPr marL="93133" marR="93133" marT="93133" marB="9313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498348890"/>
                  </a:ext>
                </a:extLst>
              </a:tr>
              <a:tr h="494347">
                <a:tc>
                  <a:txBody>
                    <a:bodyPr/>
                    <a:lstStyle/>
                    <a:p>
                      <a:pPr algn="l">
                        <a:buNone/>
                      </a:pPr>
                      <a:r>
                        <a:rPr lang="en-US" sz="2000">
                          <a:effectLst/>
                        </a:rPr>
                        <a:t>AGV/task assignments</a:t>
                      </a:r>
                    </a:p>
                  </a:txBody>
                  <a:tcPr marL="93133" marR="93133" marT="93133" marB="9313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2000">
                          <a:effectLst/>
                        </a:rPr>
                        <a:t>Task completion info</a:t>
                      </a:r>
                    </a:p>
                  </a:txBody>
                  <a:tcPr marL="93133" marR="93133" marT="93133" marB="9313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059611873"/>
                  </a:ext>
                </a:extLst>
              </a:tr>
              <a:tr h="836908">
                <a:tc>
                  <a:txBody>
                    <a:bodyPr/>
                    <a:lstStyle/>
                    <a:p>
                      <a:pPr algn="l">
                        <a:buNone/>
                      </a:pPr>
                      <a:r>
                        <a:rPr lang="en-US" sz="2000">
                          <a:effectLst/>
                        </a:rPr>
                        <a:t>AGV arrival events</a:t>
                      </a:r>
                    </a:p>
                  </a:txBody>
                  <a:tcPr marL="93133" marR="93133" marT="93133" marB="9313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2000">
                          <a:effectLst/>
                        </a:rPr>
                        <a:t>Updated AGV &amp; queue states</a:t>
                      </a:r>
                    </a:p>
                  </a:txBody>
                  <a:tcPr marL="93133" marR="93133" marT="93133" marB="9313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255207152"/>
                  </a:ext>
                </a:extLst>
              </a:tr>
              <a:tr h="836908">
                <a:tc>
                  <a:txBody>
                    <a:bodyPr/>
                    <a:lstStyle/>
                    <a:p>
                      <a:pPr algn="l">
                        <a:buNone/>
                      </a:pPr>
                      <a:r>
                        <a:rPr lang="en-US" sz="2000">
                          <a:effectLst/>
                        </a:rPr>
                        <a:t>User/config commands</a:t>
                      </a:r>
                    </a:p>
                  </a:txBody>
                  <a:tcPr marL="93133" marR="93133" marT="93133" marB="9313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2000" dirty="0">
                          <a:effectLst/>
                        </a:rPr>
                        <a:t>Error messages, system status</a:t>
                      </a:r>
                    </a:p>
                  </a:txBody>
                  <a:tcPr marL="93133" marR="93133" marT="93133" marB="9313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84733354"/>
                  </a:ext>
                </a:extLst>
              </a:tr>
            </a:tbl>
          </a:graphicData>
        </a:graphic>
      </p:graphicFrame>
      <p:sp>
        <p:nvSpPr>
          <p:cNvPr id="3" name="TextBox 2">
            <a:extLst>
              <a:ext uri="{FF2B5EF4-FFF2-40B4-BE49-F238E27FC236}">
                <a16:creationId xmlns:a16="http://schemas.microsoft.com/office/drawing/2014/main" id="{14C1A997-948F-163B-E54B-EF824DE3C18D}"/>
              </a:ext>
            </a:extLst>
          </p:cNvPr>
          <p:cNvSpPr txBox="1"/>
          <p:nvPr/>
        </p:nvSpPr>
        <p:spPr>
          <a:xfrm>
            <a:off x="2656114" y="740620"/>
            <a:ext cx="6879771" cy="523220"/>
          </a:xfrm>
          <a:prstGeom prst="rect">
            <a:avLst/>
          </a:prstGeom>
          <a:noFill/>
        </p:spPr>
        <p:txBody>
          <a:bodyPr wrap="square" rtlCol="0">
            <a:spAutoFit/>
          </a:bodyPr>
          <a:lstStyle/>
          <a:p>
            <a:pPr algn="ctr"/>
            <a:r>
              <a:rPr lang="en-US" sz="2800" b="1" dirty="0">
                <a:latin typeface="Arial Nova" panose="020F0502020204030204" pitchFamily="34" charset="0"/>
              </a:rPr>
              <a:t>Input/Output</a:t>
            </a:r>
            <a:endParaRPr lang="en-001" sz="2800" b="1" dirty="0">
              <a:latin typeface="Arial Nova" panose="020F0502020204030204" pitchFamily="34" charset="0"/>
            </a:endParaRPr>
          </a:p>
        </p:txBody>
      </p:sp>
    </p:spTree>
    <p:extLst>
      <p:ext uri="{BB962C8B-B14F-4D97-AF65-F5344CB8AC3E}">
        <p14:creationId xmlns:p14="http://schemas.microsoft.com/office/powerpoint/2010/main" val="1613015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190213-41B4-0456-CAFB-61F62CC21008}"/>
              </a:ext>
            </a:extLst>
          </p:cNvPr>
          <p:cNvSpPr txBox="1"/>
          <p:nvPr/>
        </p:nvSpPr>
        <p:spPr>
          <a:xfrm>
            <a:off x="4109357" y="620877"/>
            <a:ext cx="3973286" cy="461665"/>
          </a:xfrm>
          <a:prstGeom prst="rect">
            <a:avLst/>
          </a:prstGeom>
          <a:noFill/>
        </p:spPr>
        <p:txBody>
          <a:bodyPr wrap="square" rtlCol="0">
            <a:spAutoFit/>
          </a:bodyPr>
          <a:lstStyle/>
          <a:p>
            <a:pPr algn="ctr"/>
            <a:r>
              <a:rPr lang="en-US" sz="2400" b="1">
                <a:latin typeface="Arial Nova" panose="020B0504020202020204" pitchFamily="34" charset="0"/>
              </a:rPr>
              <a:t>AABHS Interface</a:t>
            </a:r>
            <a:endParaRPr lang="en-001" sz="2400" b="1" dirty="0">
              <a:latin typeface="Arial Nova" panose="020B0504020202020204" pitchFamily="34" charset="0"/>
            </a:endParaRPr>
          </a:p>
        </p:txBody>
      </p:sp>
      <p:pic>
        <p:nvPicPr>
          <p:cNvPr id="5" name="Picture 4" descr="A screenshot of a computer&#10;&#10;AI-generated content may be incorrect.">
            <a:extLst>
              <a:ext uri="{FF2B5EF4-FFF2-40B4-BE49-F238E27FC236}">
                <a16:creationId xmlns:a16="http://schemas.microsoft.com/office/drawing/2014/main" id="{4C9E7416-19F3-9CA1-AE6C-5D31BCF0CAF5}"/>
              </a:ext>
            </a:extLst>
          </p:cNvPr>
          <p:cNvPicPr>
            <a:picLocks noChangeAspect="1"/>
          </p:cNvPicPr>
          <p:nvPr/>
        </p:nvPicPr>
        <p:blipFill>
          <a:blip r:embed="rId2">
            <a:extLst>
              <a:ext uri="{28A0092B-C50C-407E-A947-70E740481C1C}">
                <a14:useLocalDpi xmlns:a14="http://schemas.microsoft.com/office/drawing/2010/main" val="0"/>
              </a:ext>
            </a:extLst>
          </a:blip>
          <a:srcRect l="2500" t="1269" r="16678" b="5797"/>
          <a:stretch>
            <a:fillRect/>
          </a:stretch>
        </p:blipFill>
        <p:spPr>
          <a:xfrm>
            <a:off x="2993571" y="1328448"/>
            <a:ext cx="6204858" cy="5355381"/>
          </a:xfrm>
          <a:prstGeom prst="rect">
            <a:avLst/>
          </a:prstGeom>
        </p:spPr>
      </p:pic>
    </p:spTree>
    <p:extLst>
      <p:ext uri="{BB962C8B-B14F-4D97-AF65-F5344CB8AC3E}">
        <p14:creationId xmlns:p14="http://schemas.microsoft.com/office/powerpoint/2010/main" val="1931779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E25DE-BB9B-37D4-D685-3D3EE8D71C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0370029-831B-7AAB-D496-C475B8E309BC}"/>
              </a:ext>
            </a:extLst>
          </p:cNvPr>
          <p:cNvSpPr txBox="1"/>
          <p:nvPr/>
        </p:nvSpPr>
        <p:spPr>
          <a:xfrm>
            <a:off x="4109357" y="620877"/>
            <a:ext cx="3973286" cy="461665"/>
          </a:xfrm>
          <a:prstGeom prst="rect">
            <a:avLst/>
          </a:prstGeom>
          <a:noFill/>
        </p:spPr>
        <p:txBody>
          <a:bodyPr wrap="square" rtlCol="0">
            <a:spAutoFit/>
          </a:bodyPr>
          <a:lstStyle/>
          <a:p>
            <a:pPr algn="ctr"/>
            <a:r>
              <a:rPr lang="en-US" sz="2400" b="1">
                <a:latin typeface="Arial Nova" panose="020B0504020202020204" pitchFamily="34" charset="0"/>
              </a:rPr>
              <a:t>AABHS Interface</a:t>
            </a:r>
            <a:endParaRPr lang="en-001" sz="2400" b="1" dirty="0">
              <a:latin typeface="Arial Nova" panose="020B0504020202020204" pitchFamily="34" charset="0"/>
            </a:endParaRPr>
          </a:p>
        </p:txBody>
      </p:sp>
      <p:pic>
        <p:nvPicPr>
          <p:cNvPr id="5" name="Picture 4" descr="A screenshot of a computer&#10;&#10;AI-generated content may be incorrect.">
            <a:extLst>
              <a:ext uri="{FF2B5EF4-FFF2-40B4-BE49-F238E27FC236}">
                <a16:creationId xmlns:a16="http://schemas.microsoft.com/office/drawing/2014/main" id="{36AAB7FF-D09A-3256-F934-1281719A8E1D}"/>
              </a:ext>
            </a:extLst>
          </p:cNvPr>
          <p:cNvPicPr>
            <a:picLocks noChangeAspect="1"/>
          </p:cNvPicPr>
          <p:nvPr/>
        </p:nvPicPr>
        <p:blipFill>
          <a:blip r:embed="rId2">
            <a:extLst>
              <a:ext uri="{28A0092B-C50C-407E-A947-70E740481C1C}">
                <a14:useLocalDpi xmlns:a14="http://schemas.microsoft.com/office/drawing/2010/main" val="0"/>
              </a:ext>
            </a:extLst>
          </a:blip>
          <a:srcRect l="2500" t="1269" r="16678" b="5797"/>
          <a:stretch>
            <a:fillRect/>
          </a:stretch>
        </p:blipFill>
        <p:spPr>
          <a:xfrm>
            <a:off x="2993571" y="1328448"/>
            <a:ext cx="6204858" cy="5355381"/>
          </a:xfrm>
          <a:prstGeom prst="rect">
            <a:avLst/>
          </a:prstGeom>
        </p:spPr>
      </p:pic>
    </p:spTree>
    <p:extLst>
      <p:ext uri="{BB962C8B-B14F-4D97-AF65-F5344CB8AC3E}">
        <p14:creationId xmlns:p14="http://schemas.microsoft.com/office/powerpoint/2010/main" val="2993347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F0809-19C0-D2CE-C220-C21A3975D61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8A23C0B-3956-C88D-6D63-051A85739133}"/>
              </a:ext>
            </a:extLst>
          </p:cNvPr>
          <p:cNvPicPr>
            <a:picLocks noChangeAspect="1"/>
          </p:cNvPicPr>
          <p:nvPr/>
        </p:nvPicPr>
        <p:blipFill>
          <a:blip r:embed="rId2">
            <a:extLst>
              <a:ext uri="{28A0092B-C50C-407E-A947-70E740481C1C}">
                <a14:useLocalDpi xmlns:a14="http://schemas.microsoft.com/office/drawing/2010/main" val="0"/>
              </a:ext>
            </a:extLst>
          </a:blip>
          <a:srcRect l="35514" t="16864" r="18677" b="26222"/>
          <a:stretch>
            <a:fillRect/>
          </a:stretch>
        </p:blipFill>
        <p:spPr>
          <a:xfrm>
            <a:off x="2993571" y="1328448"/>
            <a:ext cx="6204858" cy="5355380"/>
          </a:xfrm>
          <a:prstGeom prst="rect">
            <a:avLst/>
          </a:prstGeom>
        </p:spPr>
      </p:pic>
      <p:sp>
        <p:nvSpPr>
          <p:cNvPr id="2" name="TextBox 1">
            <a:extLst>
              <a:ext uri="{FF2B5EF4-FFF2-40B4-BE49-F238E27FC236}">
                <a16:creationId xmlns:a16="http://schemas.microsoft.com/office/drawing/2014/main" id="{8EB5FEFC-2F47-EB5D-57CD-032DFC65F5FA}"/>
              </a:ext>
            </a:extLst>
          </p:cNvPr>
          <p:cNvSpPr txBox="1"/>
          <p:nvPr/>
        </p:nvSpPr>
        <p:spPr>
          <a:xfrm>
            <a:off x="4109357" y="620877"/>
            <a:ext cx="3973286" cy="461665"/>
          </a:xfrm>
          <a:prstGeom prst="rect">
            <a:avLst/>
          </a:prstGeom>
          <a:noFill/>
        </p:spPr>
        <p:txBody>
          <a:bodyPr wrap="square" rtlCol="0">
            <a:spAutoFit/>
          </a:bodyPr>
          <a:lstStyle/>
          <a:p>
            <a:pPr algn="ctr"/>
            <a:r>
              <a:rPr lang="en-US" sz="2400" b="1">
                <a:latin typeface="Arial Nova" panose="020B0504020202020204" pitchFamily="34" charset="0"/>
              </a:rPr>
              <a:t>AABHS Interface</a:t>
            </a:r>
            <a:endParaRPr lang="en-001" sz="2400" b="1" dirty="0">
              <a:latin typeface="Arial Nova" panose="020B0504020202020204" pitchFamily="34" charset="0"/>
            </a:endParaRPr>
          </a:p>
        </p:txBody>
      </p:sp>
    </p:spTree>
    <p:extLst>
      <p:ext uri="{BB962C8B-B14F-4D97-AF65-F5344CB8AC3E}">
        <p14:creationId xmlns:p14="http://schemas.microsoft.com/office/powerpoint/2010/main" val="1908505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63A7D-1DEA-68F6-0C41-2251D942DE3C}"/>
            </a:ext>
          </a:extLst>
        </p:cNvPr>
        <p:cNvGrpSpPr/>
        <p:nvPr/>
      </p:nvGrpSpPr>
      <p:grpSpPr>
        <a:xfrm>
          <a:off x="0" y="0"/>
          <a:ext cx="0" cy="0"/>
          <a:chOff x="0" y="0"/>
          <a:chExt cx="0" cy="0"/>
        </a:xfrm>
      </p:grpSpPr>
      <p:pic>
        <p:nvPicPr>
          <p:cNvPr id="6" name="Picture 5" descr="A computer screen shot of a computer&#10;&#10;AI-generated content may be incorrect.">
            <a:extLst>
              <a:ext uri="{FF2B5EF4-FFF2-40B4-BE49-F238E27FC236}">
                <a16:creationId xmlns:a16="http://schemas.microsoft.com/office/drawing/2014/main" id="{ED63CA66-CE34-F8DF-450F-6591F80296B0}"/>
              </a:ext>
            </a:extLst>
          </p:cNvPr>
          <p:cNvPicPr>
            <a:picLocks noChangeAspect="1"/>
          </p:cNvPicPr>
          <p:nvPr/>
        </p:nvPicPr>
        <p:blipFill>
          <a:blip r:embed="rId2">
            <a:extLst>
              <a:ext uri="{28A0092B-C50C-407E-A947-70E740481C1C}">
                <a14:useLocalDpi xmlns:a14="http://schemas.microsoft.com/office/drawing/2010/main" val="0"/>
              </a:ext>
            </a:extLst>
          </a:blip>
          <a:srcRect l="40982" t="11791" r="13482" b="5549"/>
          <a:stretch>
            <a:fillRect/>
          </a:stretch>
        </p:blipFill>
        <p:spPr>
          <a:xfrm>
            <a:off x="2993571" y="1328448"/>
            <a:ext cx="6249987" cy="5355380"/>
          </a:xfrm>
          <a:prstGeom prst="rect">
            <a:avLst/>
          </a:prstGeom>
        </p:spPr>
      </p:pic>
      <p:sp>
        <p:nvSpPr>
          <p:cNvPr id="2" name="TextBox 1">
            <a:extLst>
              <a:ext uri="{FF2B5EF4-FFF2-40B4-BE49-F238E27FC236}">
                <a16:creationId xmlns:a16="http://schemas.microsoft.com/office/drawing/2014/main" id="{E1E06B6C-050B-88F5-B0D9-1D6AD7796A66}"/>
              </a:ext>
            </a:extLst>
          </p:cNvPr>
          <p:cNvSpPr txBox="1"/>
          <p:nvPr/>
        </p:nvSpPr>
        <p:spPr>
          <a:xfrm>
            <a:off x="4109357" y="620877"/>
            <a:ext cx="3973286" cy="461665"/>
          </a:xfrm>
          <a:prstGeom prst="rect">
            <a:avLst/>
          </a:prstGeom>
          <a:noFill/>
        </p:spPr>
        <p:txBody>
          <a:bodyPr wrap="square" rtlCol="0">
            <a:spAutoFit/>
          </a:bodyPr>
          <a:lstStyle/>
          <a:p>
            <a:pPr algn="ctr"/>
            <a:r>
              <a:rPr lang="en-US" sz="2400" b="1" dirty="0">
                <a:latin typeface="Arial Nova" panose="020B0504020202020204" pitchFamily="34" charset="0"/>
              </a:rPr>
              <a:t>AABHS Interface</a:t>
            </a:r>
            <a:endParaRPr lang="en-001" sz="2400" b="1" dirty="0">
              <a:latin typeface="Arial Nova" panose="020B0504020202020204" pitchFamily="34" charset="0"/>
            </a:endParaRPr>
          </a:p>
        </p:txBody>
      </p:sp>
    </p:spTree>
    <p:extLst>
      <p:ext uri="{BB962C8B-B14F-4D97-AF65-F5344CB8AC3E}">
        <p14:creationId xmlns:p14="http://schemas.microsoft.com/office/powerpoint/2010/main" val="3858908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59FA4D-9689-3B70-A0E7-1E2295376AEA}"/>
              </a:ext>
            </a:extLst>
          </p:cNvPr>
          <p:cNvSpPr txBox="1"/>
          <p:nvPr/>
        </p:nvSpPr>
        <p:spPr>
          <a:xfrm>
            <a:off x="648930" y="629266"/>
            <a:ext cx="6188190" cy="1622321"/>
          </a:xfrm>
          <a:prstGeom prst="rect">
            <a:avLst/>
          </a:prstGeom>
        </p:spPr>
        <p:txBody>
          <a:bodyPr vert="horz" lIns="91440" tIns="45720" rIns="91440" bIns="45720" rtlCol="0" anchor="t">
            <a:normAutofit/>
          </a:bodyPr>
          <a:lstStyle/>
          <a:p>
            <a:pPr>
              <a:spcBef>
                <a:spcPct val="0"/>
              </a:spcBef>
              <a:spcAft>
                <a:spcPts val="600"/>
              </a:spcAft>
            </a:pPr>
            <a:r>
              <a:rPr lang="en-US" sz="4200">
                <a:solidFill>
                  <a:srgbClr val="EBEBEB"/>
                </a:solidFill>
                <a:latin typeface="Arial Nova" panose="020B0504020202020204" pitchFamily="34" charset="0"/>
                <a:ea typeface="+mj-ea"/>
                <a:cs typeface="+mj-cs"/>
              </a:rPr>
              <a:t>Concurrency and Threads in the System</a:t>
            </a:r>
          </a:p>
        </p:txBody>
      </p:sp>
      <p:sp>
        <p:nvSpPr>
          <p:cNvPr id="3" name="TextBox 2">
            <a:extLst>
              <a:ext uri="{FF2B5EF4-FFF2-40B4-BE49-F238E27FC236}">
                <a16:creationId xmlns:a16="http://schemas.microsoft.com/office/drawing/2014/main" id="{9F862022-25A6-C6F2-A2CD-1945F55D2126}"/>
              </a:ext>
            </a:extLst>
          </p:cNvPr>
          <p:cNvSpPr txBox="1"/>
          <p:nvPr/>
        </p:nvSpPr>
        <p:spPr>
          <a:xfrm>
            <a:off x="648930" y="2438401"/>
            <a:ext cx="6188189" cy="3439886"/>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sz="1600" dirty="0">
                <a:solidFill>
                  <a:srgbClr val="FFFFFF"/>
                </a:solidFill>
                <a:latin typeface="Arial Nova" panose="020B0504020202020204" pitchFamily="34" charset="0"/>
                <a:ea typeface="+mj-ea"/>
                <a:cs typeface="+mj-cs"/>
              </a:rPr>
              <a:t>The system uses concurrent threads to simulate real-world simultaneous operation of multiple AGVs.</a:t>
            </a:r>
          </a:p>
          <a:p>
            <a:pPr>
              <a:spcBef>
                <a:spcPts val="1000"/>
              </a:spcBef>
              <a:buClr>
                <a:schemeClr val="bg2">
                  <a:lumMod val="40000"/>
                  <a:lumOff val="60000"/>
                </a:schemeClr>
              </a:buClr>
              <a:buSzPct val="80000"/>
              <a:buFont typeface="Wingdings 3" charset="2"/>
              <a:buChar char=""/>
            </a:pPr>
            <a:r>
              <a:rPr lang="en-US" sz="1600" dirty="0">
                <a:solidFill>
                  <a:srgbClr val="FFFFFF"/>
                </a:solidFill>
                <a:latin typeface="Arial Nova" panose="020B0504020202020204" pitchFamily="34" charset="0"/>
                <a:ea typeface="+mj-ea"/>
                <a:cs typeface="+mj-cs"/>
              </a:rPr>
              <a:t>Each AGV runs tasks in parallel, requesting charging and communicating with queue and station managers.</a:t>
            </a:r>
          </a:p>
          <a:p>
            <a:pPr>
              <a:spcBef>
                <a:spcPts val="1000"/>
              </a:spcBef>
              <a:buClr>
                <a:schemeClr val="bg2">
                  <a:lumMod val="40000"/>
                  <a:lumOff val="60000"/>
                </a:schemeClr>
              </a:buClr>
              <a:buSzPct val="80000"/>
              <a:buFont typeface="Wingdings 3" charset="2"/>
              <a:buChar char=""/>
            </a:pPr>
            <a:r>
              <a:rPr lang="en-US" sz="1600" dirty="0">
                <a:solidFill>
                  <a:srgbClr val="FFFFFF"/>
                </a:solidFill>
                <a:latin typeface="Arial Nova" panose="020B0504020202020204" pitchFamily="34" charset="0"/>
                <a:ea typeface="+mj-ea"/>
                <a:cs typeface="+mj-cs"/>
              </a:rPr>
              <a:t>Synchronized methods and locking ensure thread-safe updates, like assigning charging stations without conflicts.</a:t>
            </a:r>
          </a:p>
          <a:p>
            <a:pPr>
              <a:spcBef>
                <a:spcPts val="1000"/>
              </a:spcBef>
              <a:buClr>
                <a:schemeClr val="bg2">
                  <a:lumMod val="40000"/>
                  <a:lumOff val="60000"/>
                </a:schemeClr>
              </a:buClr>
              <a:buSzPct val="80000"/>
              <a:buFont typeface="Wingdings 3" charset="2"/>
              <a:buChar char=""/>
            </a:pPr>
            <a:r>
              <a:rPr lang="en-US" sz="1600" dirty="0">
                <a:solidFill>
                  <a:srgbClr val="FFFFFF"/>
                </a:solidFill>
                <a:latin typeface="Arial Nova" panose="020B0504020202020204" pitchFamily="34" charset="0"/>
                <a:ea typeface="+mj-ea"/>
                <a:cs typeface="+mj-cs"/>
              </a:rPr>
              <a:t>This concurrency model improves simulation realism and system responsiveness.</a:t>
            </a:r>
          </a:p>
          <a:p>
            <a:pPr>
              <a:spcBef>
                <a:spcPts val="1000"/>
              </a:spcBef>
              <a:buClr>
                <a:schemeClr val="bg2">
                  <a:lumMod val="40000"/>
                  <a:lumOff val="60000"/>
                </a:schemeClr>
              </a:buClr>
              <a:buSzPct val="80000"/>
              <a:buFont typeface="Wingdings 3" charset="2"/>
              <a:buChar char=""/>
            </a:pPr>
            <a:r>
              <a:rPr lang="en-US" sz="1600" dirty="0">
                <a:solidFill>
                  <a:srgbClr val="FFFFFF"/>
                </a:solidFill>
                <a:latin typeface="Arial Nova" panose="020B0504020202020204" pitchFamily="34" charset="0"/>
                <a:ea typeface="+mj-ea"/>
                <a:cs typeface="+mj-cs"/>
              </a:rPr>
              <a:t>Challenges such as race conditions and deadlocks are mitigated by careful design of task assignment and queue management logic.</a:t>
            </a:r>
          </a:p>
        </p:txBody>
      </p:sp>
      <p:pic>
        <p:nvPicPr>
          <p:cNvPr id="5" name="Picture 4" descr="Top view of cubes connected with black lines">
            <a:extLst>
              <a:ext uri="{FF2B5EF4-FFF2-40B4-BE49-F238E27FC236}">
                <a16:creationId xmlns:a16="http://schemas.microsoft.com/office/drawing/2014/main" id="{5490CC0D-63BC-50CE-3B4E-6627C2BBBA17}"/>
              </a:ext>
            </a:extLst>
          </p:cNvPr>
          <p:cNvPicPr>
            <a:picLocks noChangeAspect="1"/>
          </p:cNvPicPr>
          <p:nvPr/>
        </p:nvPicPr>
        <p:blipFill>
          <a:blip r:embed="rId3"/>
          <a:srcRect l="27822" r="17900"/>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1502931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6F6582-1F82-2518-A5B4-D62E1B852E49}"/>
              </a:ext>
            </a:extLst>
          </p:cNvPr>
          <p:cNvSpPr txBox="1"/>
          <p:nvPr/>
        </p:nvSpPr>
        <p:spPr>
          <a:xfrm>
            <a:off x="2770414" y="1393372"/>
            <a:ext cx="6651171" cy="461665"/>
          </a:xfrm>
          <a:prstGeom prst="rect">
            <a:avLst/>
          </a:prstGeom>
          <a:noFill/>
        </p:spPr>
        <p:txBody>
          <a:bodyPr wrap="square" rtlCol="0">
            <a:spAutoFit/>
          </a:bodyPr>
          <a:lstStyle/>
          <a:p>
            <a:pPr algn="ctr"/>
            <a:r>
              <a:rPr lang="en-US" sz="2400" b="1" dirty="0">
                <a:latin typeface="Arial Nova" panose="020B0504020202020204" pitchFamily="34" charset="0"/>
              </a:rPr>
              <a:t>Unit Test Results</a:t>
            </a:r>
            <a:endParaRPr lang="en-001" sz="2400" b="1" dirty="0">
              <a:latin typeface="Arial Nova" panose="020B0504020202020204" pitchFamily="34" charset="0"/>
            </a:endParaRPr>
          </a:p>
        </p:txBody>
      </p:sp>
      <p:sp>
        <p:nvSpPr>
          <p:cNvPr id="3" name="TextBox 2">
            <a:extLst>
              <a:ext uri="{FF2B5EF4-FFF2-40B4-BE49-F238E27FC236}">
                <a16:creationId xmlns:a16="http://schemas.microsoft.com/office/drawing/2014/main" id="{11B50C05-5F06-B91C-F51F-F319BD363D61}"/>
              </a:ext>
            </a:extLst>
          </p:cNvPr>
          <p:cNvSpPr txBox="1"/>
          <p:nvPr/>
        </p:nvSpPr>
        <p:spPr>
          <a:xfrm>
            <a:off x="2677886" y="4114800"/>
            <a:ext cx="4114800" cy="369332"/>
          </a:xfrm>
          <a:prstGeom prst="rect">
            <a:avLst/>
          </a:prstGeom>
          <a:noFill/>
        </p:spPr>
        <p:txBody>
          <a:bodyPr wrap="square" rtlCol="0">
            <a:spAutoFit/>
          </a:bodyPr>
          <a:lstStyle/>
          <a:p>
            <a:r>
              <a:rPr lang="en-US" dirty="0">
                <a:latin typeface="Arial Nova" panose="020B0504020202020204" pitchFamily="34" charset="0"/>
              </a:rPr>
              <a:t>Add screenshots of GUI</a:t>
            </a:r>
            <a:endParaRPr lang="en-001" dirty="0">
              <a:latin typeface="Arial Nova" panose="020B0504020202020204" pitchFamily="34" charset="0"/>
            </a:endParaRPr>
          </a:p>
        </p:txBody>
      </p:sp>
    </p:spTree>
    <p:extLst>
      <p:ext uri="{BB962C8B-B14F-4D97-AF65-F5344CB8AC3E}">
        <p14:creationId xmlns:p14="http://schemas.microsoft.com/office/powerpoint/2010/main" val="1865824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152803-675D-8AB2-BF83-5C2D66031B30}"/>
              </a:ext>
            </a:extLst>
          </p:cNvPr>
          <p:cNvSpPr txBox="1"/>
          <p:nvPr/>
        </p:nvSpPr>
        <p:spPr>
          <a:xfrm>
            <a:off x="643855" y="1447800"/>
            <a:ext cx="3108626" cy="4572000"/>
          </a:xfrm>
          <a:prstGeom prst="rect">
            <a:avLst/>
          </a:prstGeom>
        </p:spPr>
        <p:txBody>
          <a:bodyPr vert="horz" lIns="91440" tIns="45720" rIns="91440" bIns="45720" rtlCol="0" anchor="ctr">
            <a:normAutofit/>
          </a:bodyPr>
          <a:lstStyle/>
          <a:p>
            <a:pPr>
              <a:spcBef>
                <a:spcPct val="0"/>
              </a:spcBef>
              <a:spcAft>
                <a:spcPts val="600"/>
              </a:spcAft>
            </a:pPr>
            <a:r>
              <a:rPr lang="en-US" sz="3200">
                <a:solidFill>
                  <a:srgbClr val="F2F2F2"/>
                </a:solidFill>
                <a:latin typeface="+mj-lt"/>
                <a:ea typeface="+mj-ea"/>
                <a:cs typeface="+mj-cs"/>
              </a:rPr>
              <a:t>Conclusion</a:t>
            </a:r>
          </a:p>
        </p:txBody>
      </p:sp>
      <p:graphicFrame>
        <p:nvGraphicFramePr>
          <p:cNvPr id="42" name="TextBox 2">
            <a:extLst>
              <a:ext uri="{FF2B5EF4-FFF2-40B4-BE49-F238E27FC236}">
                <a16:creationId xmlns:a16="http://schemas.microsoft.com/office/drawing/2014/main" id="{2214CDB5-A3DD-19AD-1742-0A6F2EF0372F}"/>
              </a:ext>
            </a:extLst>
          </p:cNvPr>
          <p:cNvGraphicFramePr/>
          <p:nvPr>
            <p:extLst>
              <p:ext uri="{D42A27DB-BD31-4B8C-83A1-F6EECF244321}">
                <p14:modId xmlns:p14="http://schemas.microsoft.com/office/powerpoint/2010/main" val="3673428690"/>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7997627"/>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BD89C9-94B3-211A-6534-EFFB87497686}"/>
              </a:ext>
            </a:extLst>
          </p:cNvPr>
          <p:cNvSpPr txBox="1"/>
          <p:nvPr/>
        </p:nvSpPr>
        <p:spPr>
          <a:xfrm>
            <a:off x="1996506" y="3256736"/>
            <a:ext cx="4233651" cy="344527"/>
          </a:xfrm>
          <a:prstGeom prst="rect">
            <a:avLst/>
          </a:prstGeom>
        </p:spPr>
        <p:txBody>
          <a:bodyPr vert="horz" lIns="91440" tIns="45720" rIns="91440" bIns="45720" rtlCol="0">
            <a:normAutofit fontScale="85000" lnSpcReduction="20000"/>
          </a:bodyPr>
          <a:lstStyle/>
          <a:p>
            <a:pPr algn="ctr">
              <a:spcBef>
                <a:spcPts val="1000"/>
              </a:spcBef>
              <a:buClr>
                <a:schemeClr val="bg2">
                  <a:lumMod val="40000"/>
                  <a:lumOff val="60000"/>
                </a:schemeClr>
              </a:buClr>
              <a:buSzPct val="80000"/>
              <a:buFont typeface="Wingdings 3" charset="2"/>
              <a:buChar char=""/>
            </a:pPr>
            <a:r>
              <a:rPr lang="en-US" sz="2400" b="1">
                <a:solidFill>
                  <a:srgbClr val="FFFFFF"/>
                </a:solidFill>
                <a:latin typeface="+mj-lt"/>
                <a:ea typeface="+mj-ea"/>
                <a:cs typeface="+mj-cs"/>
              </a:rPr>
              <a:t>Any Questions? </a:t>
            </a:r>
          </a:p>
        </p:txBody>
      </p:sp>
      <p:pic>
        <p:nvPicPr>
          <p:cNvPr id="4" name="Picture 3" descr="Yellow question mark">
            <a:extLst>
              <a:ext uri="{FF2B5EF4-FFF2-40B4-BE49-F238E27FC236}">
                <a16:creationId xmlns:a16="http://schemas.microsoft.com/office/drawing/2014/main" id="{5639E3C7-F2F4-36C1-5E34-D239A9AB63AC}"/>
              </a:ext>
            </a:extLst>
          </p:cNvPr>
          <p:cNvPicPr>
            <a:picLocks noChangeAspect="1"/>
          </p:cNvPicPr>
          <p:nvPr/>
        </p:nvPicPr>
        <p:blipFill>
          <a:blip r:embed="rId3"/>
          <a:srcRect l="45763" r="10814"/>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13751866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
  <TotalTime>62</TotalTime>
  <Words>476</Words>
  <Application>Microsoft Office PowerPoint</Application>
  <PresentationFormat>Widescreen</PresentationFormat>
  <Paragraphs>46</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 Nova</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Nawshad Fahim</dc:creator>
  <cp:lastModifiedBy>Nawshad Fahim</cp:lastModifiedBy>
  <cp:revision>32</cp:revision>
  <dcterms:created xsi:type="dcterms:W3CDTF">2025-11-14T11:31:16Z</dcterms:created>
  <dcterms:modified xsi:type="dcterms:W3CDTF">2025-11-14T12:45:44Z</dcterms:modified>
</cp:coreProperties>
</file>